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anva Sans" panose="020B0604020202020204" charset="0"/>
      <p:regular r:id="rId15"/>
    </p:embeddedFont>
    <p:embeddedFont>
      <p:font typeface="Canva Sans Bold" panose="020B0604020202020204" charset="0"/>
      <p:regular r:id="rId16"/>
    </p:embeddedFont>
    <p:embeddedFont>
      <p:font typeface="Palatino Bold" panose="020B0604020202020204" charset="0"/>
      <p:regular r:id="rId17"/>
    </p:embeddedFont>
    <p:embeddedFont>
      <p:font typeface="Playfair Display Bold" panose="020B0604020202020204" charset="0"/>
      <p:regular r:id="rId18"/>
    </p:embeddedFont>
    <p:embeddedFont>
      <p:font typeface="Telegraf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377328"/>
            </a:soli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631608" y="7631026"/>
            <a:ext cx="6015244" cy="2796900"/>
            <a:chOff x="0" y="0"/>
            <a:chExt cx="1584262" cy="736632"/>
          </a:xfrm>
        </p:grpSpPr>
        <p:sp>
          <p:nvSpPr>
            <p:cNvPr id="7" name="Freeform 7"/>
            <p:cNvSpPr/>
            <p:nvPr/>
          </p:nvSpPr>
          <p:spPr>
            <a:xfrm>
              <a:off x="0" y="0"/>
              <a:ext cx="1584262" cy="736632"/>
            </a:xfrm>
            <a:custGeom>
              <a:avLst/>
              <a:gdLst/>
              <a:ahLst/>
              <a:cxnLst/>
              <a:rect l="l" t="t" r="r" b="b"/>
              <a:pathLst>
                <a:path w="1584262" h="736632">
                  <a:moveTo>
                    <a:pt x="0" y="0"/>
                  </a:moveTo>
                  <a:lnTo>
                    <a:pt x="1584262" y="0"/>
                  </a:lnTo>
                  <a:lnTo>
                    <a:pt x="1584262" y="736632"/>
                  </a:lnTo>
                  <a:lnTo>
                    <a:pt x="0" y="736632"/>
                  </a:lnTo>
                  <a:close/>
                </a:path>
              </a:pathLst>
            </a:custGeom>
            <a:solidFill>
              <a:srgbClr val="FFFFFF"/>
            </a:solidFill>
          </p:spPr>
        </p:sp>
        <p:sp>
          <p:nvSpPr>
            <p:cNvPr id="8" name="TextBox 8"/>
            <p:cNvSpPr txBox="1"/>
            <p:nvPr/>
          </p:nvSpPr>
          <p:spPr>
            <a:xfrm>
              <a:off x="0" y="-38100"/>
              <a:ext cx="1584262" cy="77473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3166156" y="7631026"/>
            <a:ext cx="5895948" cy="2655974"/>
            <a:chOff x="0" y="0"/>
            <a:chExt cx="1552842" cy="699516"/>
          </a:xfrm>
        </p:grpSpPr>
        <p:sp>
          <p:nvSpPr>
            <p:cNvPr id="10" name="Freeform 10"/>
            <p:cNvSpPr/>
            <p:nvPr/>
          </p:nvSpPr>
          <p:spPr>
            <a:xfrm>
              <a:off x="0" y="0"/>
              <a:ext cx="1552842" cy="699516"/>
            </a:xfrm>
            <a:custGeom>
              <a:avLst/>
              <a:gdLst/>
              <a:ahLst/>
              <a:cxnLst/>
              <a:rect l="l" t="t" r="r" b="b"/>
              <a:pathLst>
                <a:path w="1552842" h="699516">
                  <a:moveTo>
                    <a:pt x="0" y="0"/>
                  </a:moveTo>
                  <a:lnTo>
                    <a:pt x="1552842" y="0"/>
                  </a:lnTo>
                  <a:lnTo>
                    <a:pt x="1552842" y="699516"/>
                  </a:lnTo>
                  <a:lnTo>
                    <a:pt x="0" y="699516"/>
                  </a:lnTo>
                  <a:close/>
                </a:path>
              </a:pathLst>
            </a:custGeom>
            <a:solidFill>
              <a:srgbClr val="C5E7B0"/>
            </a:solidFill>
          </p:spPr>
        </p:sp>
        <p:sp>
          <p:nvSpPr>
            <p:cNvPr id="11" name="TextBox 11"/>
            <p:cNvSpPr txBox="1"/>
            <p:nvPr/>
          </p:nvSpPr>
          <p:spPr>
            <a:xfrm>
              <a:off x="0" y="-38100"/>
              <a:ext cx="1552842" cy="737616"/>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0" y="7631026"/>
            <a:ext cx="13166156" cy="2990902"/>
            <a:chOff x="0" y="0"/>
            <a:chExt cx="3467630" cy="787727"/>
          </a:xfrm>
        </p:grpSpPr>
        <p:sp>
          <p:nvSpPr>
            <p:cNvPr id="13" name="Freeform 13"/>
            <p:cNvSpPr/>
            <p:nvPr/>
          </p:nvSpPr>
          <p:spPr>
            <a:xfrm>
              <a:off x="0" y="0"/>
              <a:ext cx="3467630" cy="787727"/>
            </a:xfrm>
            <a:custGeom>
              <a:avLst/>
              <a:gdLst/>
              <a:ahLst/>
              <a:cxnLst/>
              <a:rect l="l" t="t" r="r" b="b"/>
              <a:pathLst>
                <a:path w="3467630" h="787727">
                  <a:moveTo>
                    <a:pt x="0" y="0"/>
                  </a:moveTo>
                  <a:lnTo>
                    <a:pt x="3467630" y="0"/>
                  </a:lnTo>
                  <a:lnTo>
                    <a:pt x="3467630" y="787727"/>
                  </a:lnTo>
                  <a:lnTo>
                    <a:pt x="0" y="787727"/>
                  </a:lnTo>
                  <a:close/>
                </a:path>
              </a:pathLst>
            </a:custGeom>
            <a:solidFill>
              <a:srgbClr val="FFFFFF"/>
            </a:solidFill>
          </p:spPr>
        </p:sp>
        <p:sp>
          <p:nvSpPr>
            <p:cNvPr id="14" name="TextBox 14"/>
            <p:cNvSpPr txBox="1"/>
            <p:nvPr/>
          </p:nvSpPr>
          <p:spPr>
            <a:xfrm>
              <a:off x="0" y="-38100"/>
              <a:ext cx="3467630" cy="825827"/>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734292" y="2928203"/>
            <a:ext cx="16819417" cy="3662413"/>
            <a:chOff x="0" y="0"/>
            <a:chExt cx="22425889" cy="4883217"/>
          </a:xfrm>
        </p:grpSpPr>
        <p:grpSp>
          <p:nvGrpSpPr>
            <p:cNvPr id="16" name="Group 16"/>
            <p:cNvGrpSpPr/>
            <p:nvPr/>
          </p:nvGrpSpPr>
          <p:grpSpPr>
            <a:xfrm>
              <a:off x="2291966" y="3893756"/>
              <a:ext cx="17841957" cy="989461"/>
              <a:chOff x="0" y="0"/>
              <a:chExt cx="3524337" cy="195449"/>
            </a:xfrm>
          </p:grpSpPr>
          <p:sp>
            <p:nvSpPr>
              <p:cNvPr id="17" name="Freeform 17"/>
              <p:cNvSpPr/>
              <p:nvPr/>
            </p:nvSpPr>
            <p:spPr>
              <a:xfrm>
                <a:off x="0" y="0"/>
                <a:ext cx="3524337" cy="195449"/>
              </a:xfrm>
              <a:custGeom>
                <a:avLst/>
                <a:gdLst/>
                <a:ahLst/>
                <a:cxnLst/>
                <a:rect l="l" t="t" r="r" b="b"/>
                <a:pathLst>
                  <a:path w="3524337" h="195449">
                    <a:moveTo>
                      <a:pt x="6364" y="0"/>
                    </a:moveTo>
                    <a:lnTo>
                      <a:pt x="3517973" y="0"/>
                    </a:lnTo>
                    <a:cubicBezTo>
                      <a:pt x="3519661" y="0"/>
                      <a:pt x="3521280" y="671"/>
                      <a:pt x="3522473" y="1864"/>
                    </a:cubicBezTo>
                    <a:cubicBezTo>
                      <a:pt x="3523667" y="3058"/>
                      <a:pt x="3524337" y="4676"/>
                      <a:pt x="3524337" y="6364"/>
                    </a:cubicBezTo>
                    <a:lnTo>
                      <a:pt x="3524337" y="189085"/>
                    </a:lnTo>
                    <a:cubicBezTo>
                      <a:pt x="3524337" y="190773"/>
                      <a:pt x="3523667" y="192392"/>
                      <a:pt x="3522473" y="193585"/>
                    </a:cubicBezTo>
                    <a:cubicBezTo>
                      <a:pt x="3521280" y="194779"/>
                      <a:pt x="3519661" y="195449"/>
                      <a:pt x="3517973" y="195449"/>
                    </a:cubicBezTo>
                    <a:lnTo>
                      <a:pt x="6364" y="195449"/>
                    </a:lnTo>
                    <a:cubicBezTo>
                      <a:pt x="4676" y="195449"/>
                      <a:pt x="3058" y="194779"/>
                      <a:pt x="1864" y="193585"/>
                    </a:cubicBezTo>
                    <a:cubicBezTo>
                      <a:pt x="671" y="192392"/>
                      <a:pt x="0" y="190773"/>
                      <a:pt x="0" y="189085"/>
                    </a:cubicBezTo>
                    <a:lnTo>
                      <a:pt x="0" y="6364"/>
                    </a:lnTo>
                    <a:cubicBezTo>
                      <a:pt x="0" y="4676"/>
                      <a:pt x="671" y="3058"/>
                      <a:pt x="1864" y="1864"/>
                    </a:cubicBezTo>
                    <a:cubicBezTo>
                      <a:pt x="3058" y="671"/>
                      <a:pt x="4676" y="0"/>
                      <a:pt x="6364" y="0"/>
                    </a:cubicBezTo>
                    <a:close/>
                  </a:path>
                </a:pathLst>
              </a:custGeom>
              <a:solidFill>
                <a:srgbClr val="C5E7B0"/>
              </a:solidFill>
            </p:spPr>
          </p:sp>
          <p:sp>
            <p:nvSpPr>
              <p:cNvPr id="18" name="TextBox 18"/>
              <p:cNvSpPr txBox="1"/>
              <p:nvPr/>
            </p:nvSpPr>
            <p:spPr>
              <a:xfrm>
                <a:off x="0" y="-38100"/>
                <a:ext cx="3524337" cy="233549"/>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0" y="-273505"/>
              <a:ext cx="22425889" cy="4427360"/>
            </a:xfrm>
            <a:prstGeom prst="rect">
              <a:avLst/>
            </a:prstGeom>
          </p:spPr>
          <p:txBody>
            <a:bodyPr lIns="0" tIns="0" rIns="0" bIns="0" rtlCol="0" anchor="t">
              <a:spAutoFit/>
            </a:bodyPr>
            <a:lstStyle/>
            <a:p>
              <a:pPr algn="ctr">
                <a:lnSpc>
                  <a:spcPts val="26716"/>
                </a:lnSpc>
                <a:spcBef>
                  <a:spcPct val="0"/>
                </a:spcBef>
              </a:pPr>
              <a:r>
                <a:rPr lang="en-US" sz="19083" b="1" spc="-839">
                  <a:solidFill>
                    <a:srgbClr val="FFFFFF"/>
                  </a:solidFill>
                  <a:latin typeface="Telegraf Bold"/>
                  <a:ea typeface="Telegraf Bold"/>
                  <a:cs typeface="Telegraf Bold"/>
                  <a:sym typeface="Telegraf Bold"/>
                </a:rPr>
                <a:t>AGRI ASSIST</a:t>
              </a:r>
            </a:p>
          </p:txBody>
        </p:sp>
        <p:grpSp>
          <p:nvGrpSpPr>
            <p:cNvPr id="20" name="Group 20"/>
            <p:cNvGrpSpPr/>
            <p:nvPr/>
          </p:nvGrpSpPr>
          <p:grpSpPr>
            <a:xfrm>
              <a:off x="16575820" y="0"/>
              <a:ext cx="600205" cy="557890"/>
              <a:chOff x="0" y="0"/>
              <a:chExt cx="118559" cy="110200"/>
            </a:xfrm>
          </p:grpSpPr>
          <p:sp>
            <p:nvSpPr>
              <p:cNvPr id="21" name="Freeform 21"/>
              <p:cNvSpPr/>
              <p:nvPr/>
            </p:nvSpPr>
            <p:spPr>
              <a:xfrm>
                <a:off x="0" y="0"/>
                <a:ext cx="118559" cy="110200"/>
              </a:xfrm>
              <a:custGeom>
                <a:avLst/>
                <a:gdLst/>
                <a:ahLst/>
                <a:cxnLst/>
                <a:rect l="l" t="t" r="r" b="b"/>
                <a:pathLst>
                  <a:path w="118559" h="110200">
                    <a:moveTo>
                      <a:pt x="0" y="0"/>
                    </a:moveTo>
                    <a:lnTo>
                      <a:pt x="118559" y="0"/>
                    </a:lnTo>
                    <a:lnTo>
                      <a:pt x="118559" y="110200"/>
                    </a:lnTo>
                    <a:lnTo>
                      <a:pt x="0" y="110200"/>
                    </a:lnTo>
                    <a:close/>
                  </a:path>
                </a:pathLst>
              </a:custGeom>
              <a:solidFill>
                <a:srgbClr val="E2FF80"/>
              </a:solidFill>
            </p:spPr>
          </p:sp>
          <p:sp>
            <p:nvSpPr>
              <p:cNvPr id="22" name="TextBox 22"/>
              <p:cNvSpPr txBox="1"/>
              <p:nvPr/>
            </p:nvSpPr>
            <p:spPr>
              <a:xfrm>
                <a:off x="0" y="-38100"/>
                <a:ext cx="118559" cy="148300"/>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2461216" y="3900402"/>
              <a:ext cx="17503457" cy="808145"/>
            </a:xfrm>
            <a:prstGeom prst="rect">
              <a:avLst/>
            </a:prstGeom>
          </p:spPr>
          <p:txBody>
            <a:bodyPr lIns="0" tIns="0" rIns="0" bIns="0" rtlCol="0" anchor="t">
              <a:spAutoFit/>
            </a:bodyPr>
            <a:lstStyle/>
            <a:p>
              <a:pPr algn="ctr">
                <a:lnSpc>
                  <a:spcPts val="5179"/>
                </a:lnSpc>
                <a:spcBef>
                  <a:spcPct val="0"/>
                </a:spcBef>
              </a:pPr>
              <a:r>
                <a:rPr lang="en-US" sz="3699" b="1">
                  <a:solidFill>
                    <a:srgbClr val="171A18"/>
                  </a:solidFill>
                  <a:latin typeface="Playfair Display Bold"/>
                  <a:ea typeface="Playfair Display Bold"/>
                  <a:cs typeface="Playfair Display Bold"/>
                  <a:sym typeface="Playfair Display Bold"/>
                </a:rPr>
                <a:t>AI Based Crop Disease Detection and Crop Recommendation</a:t>
              </a:r>
            </a:p>
          </p:txBody>
        </p:sp>
      </p:grpSp>
      <p:grpSp>
        <p:nvGrpSpPr>
          <p:cNvPr id="24" name="Group 24"/>
          <p:cNvGrpSpPr/>
          <p:nvPr/>
        </p:nvGrpSpPr>
        <p:grpSpPr>
          <a:xfrm>
            <a:off x="7973216" y="562436"/>
            <a:ext cx="2341567" cy="2167209"/>
            <a:chOff x="0" y="0"/>
            <a:chExt cx="616709" cy="570788"/>
          </a:xfrm>
        </p:grpSpPr>
        <p:sp>
          <p:nvSpPr>
            <p:cNvPr id="25" name="Freeform 25"/>
            <p:cNvSpPr/>
            <p:nvPr/>
          </p:nvSpPr>
          <p:spPr>
            <a:xfrm>
              <a:off x="0" y="0"/>
              <a:ext cx="616709" cy="570788"/>
            </a:xfrm>
            <a:custGeom>
              <a:avLst/>
              <a:gdLst/>
              <a:ahLst/>
              <a:cxnLst/>
              <a:rect l="l" t="t" r="r" b="b"/>
              <a:pathLst>
                <a:path w="616709" h="570788">
                  <a:moveTo>
                    <a:pt x="0" y="0"/>
                  </a:moveTo>
                  <a:lnTo>
                    <a:pt x="616709" y="0"/>
                  </a:lnTo>
                  <a:lnTo>
                    <a:pt x="616709" y="570788"/>
                  </a:lnTo>
                  <a:lnTo>
                    <a:pt x="0" y="570788"/>
                  </a:lnTo>
                  <a:close/>
                </a:path>
              </a:pathLst>
            </a:custGeom>
            <a:solidFill>
              <a:srgbClr val="FFFFFF"/>
            </a:solidFill>
          </p:spPr>
        </p:sp>
        <p:sp>
          <p:nvSpPr>
            <p:cNvPr id="26" name="TextBox 26"/>
            <p:cNvSpPr txBox="1"/>
            <p:nvPr/>
          </p:nvSpPr>
          <p:spPr>
            <a:xfrm>
              <a:off x="0" y="-38100"/>
              <a:ext cx="616709" cy="608888"/>
            </a:xfrm>
            <a:prstGeom prst="rect">
              <a:avLst/>
            </a:prstGeom>
          </p:spPr>
          <p:txBody>
            <a:bodyPr lIns="50800" tIns="50800" rIns="50800" bIns="50800" rtlCol="0" anchor="ctr"/>
            <a:lstStyle/>
            <a:p>
              <a:pPr algn="ctr">
                <a:lnSpc>
                  <a:spcPts val="2659"/>
                </a:lnSpc>
              </a:pPr>
              <a:endParaRPr/>
            </a:p>
          </p:txBody>
        </p:sp>
      </p:grpSp>
      <p:sp>
        <p:nvSpPr>
          <p:cNvPr id="27" name="Freeform 27"/>
          <p:cNvSpPr/>
          <p:nvPr/>
        </p:nvSpPr>
        <p:spPr>
          <a:xfrm>
            <a:off x="7861837" y="363878"/>
            <a:ext cx="2564325" cy="2564325"/>
          </a:xfrm>
          <a:custGeom>
            <a:avLst/>
            <a:gdLst/>
            <a:ahLst/>
            <a:cxnLst/>
            <a:rect l="l" t="t" r="r" b="b"/>
            <a:pathLst>
              <a:path w="2564325" h="2564325">
                <a:moveTo>
                  <a:pt x="0" y="0"/>
                </a:moveTo>
                <a:lnTo>
                  <a:pt x="2564326" y="0"/>
                </a:lnTo>
                <a:lnTo>
                  <a:pt x="2564326" y="2564325"/>
                </a:lnTo>
                <a:lnTo>
                  <a:pt x="0" y="2564325"/>
                </a:lnTo>
                <a:lnTo>
                  <a:pt x="0" y="0"/>
                </a:lnTo>
                <a:close/>
              </a:path>
            </a:pathLst>
          </a:custGeom>
          <a:blipFill>
            <a:blip r:embed="rId3"/>
            <a:stretch>
              <a:fillRect/>
            </a:stretch>
          </a:blipFill>
        </p:spPr>
      </p:sp>
      <p:sp>
        <p:nvSpPr>
          <p:cNvPr id="28" name="TextBox 28"/>
          <p:cNvSpPr txBox="1"/>
          <p:nvPr/>
        </p:nvSpPr>
        <p:spPr>
          <a:xfrm>
            <a:off x="13423853" y="7951338"/>
            <a:ext cx="4864147" cy="2185797"/>
          </a:xfrm>
          <a:prstGeom prst="rect">
            <a:avLst/>
          </a:prstGeom>
        </p:spPr>
        <p:txBody>
          <a:bodyPr lIns="0" tIns="0" rIns="0" bIns="0" rtlCol="0" anchor="t">
            <a:spAutoFit/>
          </a:bodyPr>
          <a:lstStyle/>
          <a:p>
            <a:pPr algn="l">
              <a:lnSpc>
                <a:spcPts val="8004"/>
              </a:lnSpc>
            </a:pPr>
            <a:r>
              <a:rPr lang="en-US" sz="8700" b="1" spc="-582">
                <a:solidFill>
                  <a:srgbClr val="171A18"/>
                </a:solidFill>
                <a:latin typeface="Telegraf Bold"/>
                <a:ea typeface="Telegraf Bold"/>
                <a:cs typeface="Telegraf Bold"/>
                <a:sym typeface="Telegraf Bold"/>
              </a:rPr>
              <a:t>Team</a:t>
            </a:r>
          </a:p>
          <a:p>
            <a:pPr algn="l">
              <a:lnSpc>
                <a:spcPts val="8004"/>
              </a:lnSpc>
            </a:pPr>
            <a:r>
              <a:rPr lang="en-US" sz="8700" b="1" spc="-582">
                <a:solidFill>
                  <a:srgbClr val="171A18"/>
                </a:solidFill>
                <a:latin typeface="Telegraf Bold"/>
                <a:ea typeface="Telegraf Bold"/>
                <a:cs typeface="Telegraf Bold"/>
                <a:sym typeface="Telegraf Bold"/>
              </a:rPr>
              <a:t>Members</a:t>
            </a:r>
          </a:p>
        </p:txBody>
      </p:sp>
      <p:sp>
        <p:nvSpPr>
          <p:cNvPr id="29" name="TextBox 29"/>
          <p:cNvSpPr txBox="1"/>
          <p:nvPr/>
        </p:nvSpPr>
        <p:spPr>
          <a:xfrm>
            <a:off x="734292" y="7723598"/>
            <a:ext cx="7127546" cy="2411732"/>
          </a:xfrm>
          <a:prstGeom prst="rect">
            <a:avLst/>
          </a:prstGeom>
        </p:spPr>
        <p:txBody>
          <a:bodyPr lIns="0" tIns="0" rIns="0" bIns="0" rtlCol="0" anchor="t">
            <a:spAutoFit/>
          </a:bodyPr>
          <a:lstStyle/>
          <a:p>
            <a:pPr marL="906767" lvl="1" indent="-453384">
              <a:lnSpc>
                <a:spcPts val="6299"/>
              </a:lnSpc>
              <a:buFont typeface="Arial"/>
              <a:buChar char="•"/>
            </a:pPr>
            <a:r>
              <a:rPr lang="en-US" sz="4199" b="1" dirty="0">
                <a:solidFill>
                  <a:srgbClr val="171A18"/>
                </a:solidFill>
                <a:latin typeface="Palatino Bold"/>
                <a:ea typeface="Palatino Bold"/>
                <a:cs typeface="Palatino Bold"/>
                <a:sym typeface="Palatino Bold"/>
              </a:rPr>
              <a:t>R Govardhan Sai Ganesh </a:t>
            </a:r>
          </a:p>
          <a:p>
            <a:pPr marL="906767" lvl="1" indent="-453384" algn="l">
              <a:lnSpc>
                <a:spcPts val="6299"/>
              </a:lnSpc>
              <a:buFont typeface="Arial"/>
              <a:buChar char="•"/>
            </a:pPr>
            <a:r>
              <a:rPr lang="en-US" sz="4199" b="1" dirty="0">
                <a:solidFill>
                  <a:srgbClr val="171A18"/>
                </a:solidFill>
                <a:latin typeface="Palatino Bold"/>
                <a:ea typeface="Palatino Bold"/>
                <a:cs typeface="Palatino Bold"/>
                <a:sym typeface="Palatino Bold"/>
              </a:rPr>
              <a:t>M Sai Pallavi                 </a:t>
            </a:r>
          </a:p>
          <a:p>
            <a:pPr marL="906767" lvl="1" indent="-453384">
              <a:lnSpc>
                <a:spcPts val="6299"/>
              </a:lnSpc>
              <a:buFont typeface="Arial"/>
              <a:buChar char="•"/>
            </a:pPr>
            <a:r>
              <a:rPr lang="en-US" sz="4199" b="1" dirty="0">
                <a:solidFill>
                  <a:srgbClr val="171A18"/>
                </a:solidFill>
                <a:latin typeface="Palatino Bold"/>
                <a:ea typeface="Palatino Bold"/>
                <a:cs typeface="Palatino Bold"/>
                <a:sym typeface="Palatino Bold"/>
              </a:rPr>
              <a:t>BG Sreevani</a:t>
            </a:r>
          </a:p>
        </p:txBody>
      </p:sp>
      <p:sp>
        <p:nvSpPr>
          <p:cNvPr id="30" name="TextBox 30"/>
          <p:cNvSpPr txBox="1"/>
          <p:nvPr/>
        </p:nvSpPr>
        <p:spPr>
          <a:xfrm>
            <a:off x="9814205" y="7723598"/>
            <a:ext cx="2817403" cy="2411732"/>
          </a:xfrm>
          <a:prstGeom prst="rect">
            <a:avLst/>
          </a:prstGeom>
        </p:spPr>
        <p:txBody>
          <a:bodyPr lIns="0" tIns="0" rIns="0" bIns="0" rtlCol="0" anchor="t">
            <a:spAutoFit/>
          </a:bodyPr>
          <a:lstStyle/>
          <a:p>
            <a:pPr algn="l">
              <a:lnSpc>
                <a:spcPts val="6299"/>
              </a:lnSpc>
            </a:pPr>
            <a:r>
              <a:rPr lang="en-US" sz="4199" b="1" dirty="0">
                <a:solidFill>
                  <a:srgbClr val="3A4186"/>
                </a:solidFill>
                <a:latin typeface="Palatino Bold"/>
                <a:ea typeface="Palatino Bold"/>
                <a:cs typeface="Palatino Bold"/>
                <a:sym typeface="Palatino Bold"/>
              </a:rPr>
              <a:t>2303A54044</a:t>
            </a:r>
          </a:p>
          <a:p>
            <a:pPr algn="l">
              <a:lnSpc>
                <a:spcPts val="6299"/>
              </a:lnSpc>
            </a:pPr>
            <a:r>
              <a:rPr lang="en-US" sz="4199" b="1" dirty="0">
                <a:solidFill>
                  <a:srgbClr val="3A4186"/>
                </a:solidFill>
                <a:latin typeface="Palatino Bold"/>
                <a:ea typeface="Palatino Bold"/>
                <a:cs typeface="Palatino Bold"/>
                <a:sym typeface="Palatino Bold"/>
              </a:rPr>
              <a:t>2303A54063</a:t>
            </a:r>
          </a:p>
          <a:p>
            <a:pPr algn="l">
              <a:lnSpc>
                <a:spcPts val="6299"/>
              </a:lnSpc>
            </a:pPr>
            <a:r>
              <a:rPr lang="en-US" sz="4199" b="1">
                <a:solidFill>
                  <a:srgbClr val="3A4186"/>
                </a:solidFill>
                <a:latin typeface="Palatino Bold"/>
                <a:ea typeface="Palatino Bold"/>
                <a:cs typeface="Palatino Bold"/>
                <a:sym typeface="Palatino Bold"/>
              </a:rPr>
              <a:t>2303A54066</a:t>
            </a:r>
            <a:endParaRPr lang="en-US" sz="4199" b="1" dirty="0">
              <a:solidFill>
                <a:srgbClr val="3A4186"/>
              </a:solidFill>
              <a:latin typeface="Palatino Bold"/>
              <a:ea typeface="Palatino Bold"/>
              <a:cs typeface="Palatino Bold"/>
              <a:sym typeface="Palatino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9262"/>
            <a:ext cx="777435" cy="10386262"/>
            <a:chOff x="0" y="0"/>
            <a:chExt cx="204757" cy="2735477"/>
          </a:xfrm>
        </p:grpSpPr>
        <p:sp>
          <p:nvSpPr>
            <p:cNvPr id="3" name="Freeform 3"/>
            <p:cNvSpPr/>
            <p:nvPr/>
          </p:nvSpPr>
          <p:spPr>
            <a:xfrm>
              <a:off x="0" y="0"/>
              <a:ext cx="204757" cy="2735476"/>
            </a:xfrm>
            <a:custGeom>
              <a:avLst/>
              <a:gdLst/>
              <a:ahLst/>
              <a:cxnLst/>
              <a:rect l="l" t="t" r="r" b="b"/>
              <a:pathLst>
                <a:path w="204757" h="2735476">
                  <a:moveTo>
                    <a:pt x="0" y="0"/>
                  </a:moveTo>
                  <a:lnTo>
                    <a:pt x="204757" y="0"/>
                  </a:lnTo>
                  <a:lnTo>
                    <a:pt x="204757" y="2735476"/>
                  </a:lnTo>
                  <a:lnTo>
                    <a:pt x="0" y="2735476"/>
                  </a:lnTo>
                  <a:close/>
                </a:path>
              </a:pathLst>
            </a:custGeom>
            <a:solidFill>
              <a:srgbClr val="377328"/>
            </a:solidFill>
          </p:spPr>
        </p:sp>
        <p:sp>
          <p:nvSpPr>
            <p:cNvPr id="4" name="TextBox 4"/>
            <p:cNvSpPr txBox="1"/>
            <p:nvPr/>
          </p:nvSpPr>
          <p:spPr>
            <a:xfrm>
              <a:off x="0" y="-38100"/>
              <a:ext cx="204757" cy="2773577"/>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8793" y="8897379"/>
            <a:ext cx="876228" cy="1398637"/>
            <a:chOff x="0" y="0"/>
            <a:chExt cx="230776" cy="368365"/>
          </a:xfrm>
        </p:grpSpPr>
        <p:sp>
          <p:nvSpPr>
            <p:cNvPr id="6" name="Freeform 6"/>
            <p:cNvSpPr/>
            <p:nvPr/>
          </p:nvSpPr>
          <p:spPr>
            <a:xfrm>
              <a:off x="0" y="0"/>
              <a:ext cx="230776" cy="368365"/>
            </a:xfrm>
            <a:custGeom>
              <a:avLst/>
              <a:gdLst/>
              <a:ahLst/>
              <a:cxnLst/>
              <a:rect l="l" t="t" r="r" b="b"/>
              <a:pathLst>
                <a:path w="230776" h="368365">
                  <a:moveTo>
                    <a:pt x="0" y="0"/>
                  </a:moveTo>
                  <a:lnTo>
                    <a:pt x="230776" y="0"/>
                  </a:lnTo>
                  <a:lnTo>
                    <a:pt x="230776" y="368365"/>
                  </a:lnTo>
                  <a:lnTo>
                    <a:pt x="0" y="368365"/>
                  </a:lnTo>
                  <a:close/>
                </a:path>
              </a:pathLst>
            </a:custGeom>
            <a:solidFill>
              <a:srgbClr val="C5E7B0"/>
            </a:solidFill>
          </p:spPr>
        </p:sp>
        <p:sp>
          <p:nvSpPr>
            <p:cNvPr id="7" name="TextBox 7"/>
            <p:cNvSpPr txBox="1"/>
            <p:nvPr/>
          </p:nvSpPr>
          <p:spPr>
            <a:xfrm>
              <a:off x="0" y="-38100"/>
              <a:ext cx="230776" cy="40646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643686" y="845797"/>
            <a:ext cx="16053262" cy="8051582"/>
            <a:chOff x="0" y="0"/>
            <a:chExt cx="21404349" cy="10735443"/>
          </a:xfrm>
        </p:grpSpPr>
        <p:sp>
          <p:nvSpPr>
            <p:cNvPr id="9" name="TextBox 9"/>
            <p:cNvSpPr txBox="1"/>
            <p:nvPr/>
          </p:nvSpPr>
          <p:spPr>
            <a:xfrm>
              <a:off x="0" y="2420118"/>
              <a:ext cx="21404349" cy="8315325"/>
            </a:xfrm>
            <a:prstGeom prst="rect">
              <a:avLst/>
            </a:prstGeom>
          </p:spPr>
          <p:txBody>
            <a:bodyPr lIns="0" tIns="0" rIns="0" bIns="0" rtlCol="0" anchor="t">
              <a:spAutoFit/>
            </a:bodyPr>
            <a:lstStyle/>
            <a:p>
              <a:pPr algn="just">
                <a:lnSpc>
                  <a:spcPts val="4500"/>
                </a:lnSpc>
              </a:pPr>
              <a:r>
                <a:rPr lang="en-US" sz="3000">
                  <a:solidFill>
                    <a:srgbClr val="171A18"/>
                  </a:solidFill>
                  <a:latin typeface="Canva Sans"/>
                  <a:ea typeface="Canva Sans"/>
                  <a:cs typeface="Canva Sans"/>
                  <a:sym typeface="Canva Sans"/>
                </a:rPr>
                <a:t>Agriculture is a crucial sector that supports the livelihood of millions, but farmers often face challenges such as crop diseases, unpredictable weather, and lack of proper market information. These issues can reduce productivity and increase financial risks.</a:t>
              </a:r>
            </a:p>
            <a:p>
              <a:pPr algn="just">
                <a:lnSpc>
                  <a:spcPts val="4500"/>
                </a:lnSpc>
              </a:pPr>
              <a:endParaRPr lang="en-US" sz="3000">
                <a:solidFill>
                  <a:srgbClr val="171A18"/>
                </a:solidFill>
                <a:latin typeface="Canva Sans"/>
                <a:ea typeface="Canva Sans"/>
                <a:cs typeface="Canva Sans"/>
                <a:sym typeface="Canva Sans"/>
              </a:endParaRPr>
            </a:p>
            <a:p>
              <a:pPr algn="just">
                <a:lnSpc>
                  <a:spcPts val="4500"/>
                </a:lnSpc>
              </a:pPr>
              <a:r>
                <a:rPr lang="en-US" sz="3000">
                  <a:solidFill>
                    <a:srgbClr val="171A18"/>
                  </a:solidFill>
                  <a:latin typeface="Canva Sans"/>
                  <a:ea typeface="Canva Sans"/>
                  <a:cs typeface="Canva Sans"/>
                  <a:sym typeface="Canva Sans"/>
                </a:rPr>
                <a:t>AgriAssist – AI Farming Assistant is an intelligent system designed to help farmers make better decisions using Artificial Intelligence and Data Science. It provides features like crop disease detection, crop recommendation, weather updates, and market insights.</a:t>
              </a:r>
            </a:p>
            <a:p>
              <a:pPr algn="just">
                <a:lnSpc>
                  <a:spcPts val="4500"/>
                </a:lnSpc>
              </a:pPr>
              <a:endParaRPr lang="en-US" sz="3000">
                <a:solidFill>
                  <a:srgbClr val="171A18"/>
                </a:solidFill>
                <a:latin typeface="Canva Sans"/>
                <a:ea typeface="Canva Sans"/>
                <a:cs typeface="Canva Sans"/>
                <a:sym typeface="Canva Sans"/>
              </a:endParaRPr>
            </a:p>
            <a:p>
              <a:pPr algn="just">
                <a:lnSpc>
                  <a:spcPts val="4500"/>
                </a:lnSpc>
              </a:pPr>
              <a:r>
                <a:rPr lang="en-US" sz="3000">
                  <a:solidFill>
                    <a:srgbClr val="171A18"/>
                  </a:solidFill>
                  <a:latin typeface="Canva Sans"/>
                  <a:ea typeface="Canva Sans"/>
                  <a:cs typeface="Canva Sans"/>
                  <a:sym typeface="Canva Sans"/>
                </a:rPr>
                <a:t>The main aim of AgriAssist is to combine modern technology with traditional farming practices to improve crop yield, reduce risks, and support sustainable agriculture.</a:t>
              </a:r>
            </a:p>
            <a:p>
              <a:pPr algn="just">
                <a:lnSpc>
                  <a:spcPts val="4500"/>
                </a:lnSpc>
              </a:pPr>
              <a:endParaRPr lang="en-US" sz="3000">
                <a:solidFill>
                  <a:srgbClr val="171A18"/>
                </a:solidFill>
                <a:latin typeface="Canva Sans"/>
                <a:ea typeface="Canva Sans"/>
                <a:cs typeface="Canva Sans"/>
                <a:sym typeface="Canva Sans"/>
              </a:endParaRPr>
            </a:p>
          </p:txBody>
        </p:sp>
        <p:sp>
          <p:nvSpPr>
            <p:cNvPr id="10" name="Freeform 10"/>
            <p:cNvSpPr/>
            <p:nvPr/>
          </p:nvSpPr>
          <p:spPr>
            <a:xfrm>
              <a:off x="9087141" y="0"/>
              <a:ext cx="1204028" cy="1623077"/>
            </a:xfrm>
            <a:custGeom>
              <a:avLst/>
              <a:gdLst/>
              <a:ahLst/>
              <a:cxnLst/>
              <a:rect l="l" t="t" r="r" b="b"/>
              <a:pathLst>
                <a:path w="1204028" h="1623077">
                  <a:moveTo>
                    <a:pt x="0" y="0"/>
                  </a:moveTo>
                  <a:lnTo>
                    <a:pt x="1204028" y="0"/>
                  </a:lnTo>
                  <a:lnTo>
                    <a:pt x="1204028" y="1623077"/>
                  </a:lnTo>
                  <a:lnTo>
                    <a:pt x="0" y="162307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1" name="TextBox 11"/>
            <p:cNvSpPr txBox="1"/>
            <p:nvPr/>
          </p:nvSpPr>
          <p:spPr>
            <a:xfrm>
              <a:off x="0" y="425068"/>
              <a:ext cx="11012948" cy="1687850"/>
            </a:xfrm>
            <a:prstGeom prst="rect">
              <a:avLst/>
            </a:prstGeom>
          </p:spPr>
          <p:txBody>
            <a:bodyPr lIns="0" tIns="0" rIns="0" bIns="0" rtlCol="0" anchor="t">
              <a:spAutoFit/>
            </a:bodyPr>
            <a:lstStyle/>
            <a:p>
              <a:pPr algn="l">
                <a:lnSpc>
                  <a:spcPts val="8354"/>
                </a:lnSpc>
              </a:pPr>
              <a:r>
                <a:rPr lang="en-US" sz="9080" b="1" spc="-608">
                  <a:solidFill>
                    <a:srgbClr val="377328"/>
                  </a:solidFill>
                  <a:latin typeface="Telegraf Bold"/>
                  <a:ea typeface="Telegraf Bold"/>
                  <a:cs typeface="Telegraf Bold"/>
                  <a:sym typeface="Telegraf Bold"/>
                </a:rPr>
                <a:t>Introduction</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77328"/>
        </a:solidFill>
        <a:effectLst/>
      </p:bgPr>
    </p:bg>
    <p:spTree>
      <p:nvGrpSpPr>
        <p:cNvPr id="1" name=""/>
        <p:cNvGrpSpPr/>
        <p:nvPr/>
      </p:nvGrpSpPr>
      <p:grpSpPr>
        <a:xfrm>
          <a:off x="0" y="0"/>
          <a:ext cx="0" cy="0"/>
          <a:chOff x="0" y="0"/>
          <a:chExt cx="0" cy="0"/>
        </a:xfrm>
      </p:grpSpPr>
      <p:grpSp>
        <p:nvGrpSpPr>
          <p:cNvPr id="2" name="Group 2"/>
          <p:cNvGrpSpPr/>
          <p:nvPr/>
        </p:nvGrpSpPr>
        <p:grpSpPr>
          <a:xfrm>
            <a:off x="17602963" y="0"/>
            <a:ext cx="876228" cy="1398637"/>
            <a:chOff x="0" y="0"/>
            <a:chExt cx="230776" cy="368365"/>
          </a:xfrm>
        </p:grpSpPr>
        <p:sp>
          <p:nvSpPr>
            <p:cNvPr id="3" name="Freeform 3"/>
            <p:cNvSpPr/>
            <p:nvPr/>
          </p:nvSpPr>
          <p:spPr>
            <a:xfrm>
              <a:off x="0" y="0"/>
              <a:ext cx="230776" cy="368365"/>
            </a:xfrm>
            <a:custGeom>
              <a:avLst/>
              <a:gdLst/>
              <a:ahLst/>
              <a:cxnLst/>
              <a:rect l="l" t="t" r="r" b="b"/>
              <a:pathLst>
                <a:path w="230776" h="368365">
                  <a:moveTo>
                    <a:pt x="0" y="0"/>
                  </a:moveTo>
                  <a:lnTo>
                    <a:pt x="230776" y="0"/>
                  </a:lnTo>
                  <a:lnTo>
                    <a:pt x="230776" y="368365"/>
                  </a:lnTo>
                  <a:lnTo>
                    <a:pt x="0" y="368365"/>
                  </a:lnTo>
                  <a:close/>
                </a:path>
              </a:pathLst>
            </a:custGeom>
            <a:solidFill>
              <a:srgbClr val="C5E7B0"/>
            </a:solidFill>
          </p:spPr>
        </p:sp>
        <p:sp>
          <p:nvSpPr>
            <p:cNvPr id="4" name="TextBox 4"/>
            <p:cNvSpPr txBox="1"/>
            <p:nvPr/>
          </p:nvSpPr>
          <p:spPr>
            <a:xfrm>
              <a:off x="0" y="-38100"/>
              <a:ext cx="230776" cy="40646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0"/>
            <a:ext cx="17602963" cy="10606630"/>
            <a:chOff x="0" y="0"/>
            <a:chExt cx="23470617" cy="14142173"/>
          </a:xfrm>
        </p:grpSpPr>
        <p:grpSp>
          <p:nvGrpSpPr>
            <p:cNvPr id="6" name="Group 6"/>
            <p:cNvGrpSpPr/>
            <p:nvPr/>
          </p:nvGrpSpPr>
          <p:grpSpPr>
            <a:xfrm>
              <a:off x="0" y="0"/>
              <a:ext cx="23470617" cy="14142173"/>
              <a:chOff x="0" y="0"/>
              <a:chExt cx="4636171" cy="2793516"/>
            </a:xfrm>
          </p:grpSpPr>
          <p:sp>
            <p:nvSpPr>
              <p:cNvPr id="7" name="Freeform 7"/>
              <p:cNvSpPr/>
              <p:nvPr/>
            </p:nvSpPr>
            <p:spPr>
              <a:xfrm>
                <a:off x="0" y="0"/>
                <a:ext cx="4636171" cy="2793516"/>
              </a:xfrm>
              <a:custGeom>
                <a:avLst/>
                <a:gdLst/>
                <a:ahLst/>
                <a:cxnLst/>
                <a:rect l="l" t="t" r="r" b="b"/>
                <a:pathLst>
                  <a:path w="4636171" h="2793516">
                    <a:moveTo>
                      <a:pt x="0" y="0"/>
                    </a:moveTo>
                    <a:lnTo>
                      <a:pt x="4636171" y="0"/>
                    </a:lnTo>
                    <a:lnTo>
                      <a:pt x="4636171" y="2793516"/>
                    </a:lnTo>
                    <a:lnTo>
                      <a:pt x="0" y="2793516"/>
                    </a:lnTo>
                    <a:close/>
                  </a:path>
                </a:pathLst>
              </a:custGeom>
              <a:solidFill>
                <a:srgbClr val="FFFFFF"/>
              </a:solidFill>
            </p:spPr>
          </p:sp>
          <p:sp>
            <p:nvSpPr>
              <p:cNvPr id="8" name="TextBox 8"/>
              <p:cNvSpPr txBox="1"/>
              <p:nvPr/>
            </p:nvSpPr>
            <p:spPr>
              <a:xfrm>
                <a:off x="0" y="-38100"/>
                <a:ext cx="4636171" cy="2831616"/>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8376006" y="932425"/>
              <a:ext cx="1569172" cy="1569172"/>
            </a:xfrm>
            <a:custGeom>
              <a:avLst/>
              <a:gdLst/>
              <a:ahLst/>
              <a:cxnLst/>
              <a:rect l="l" t="t" r="r" b="b"/>
              <a:pathLst>
                <a:path w="1569172" h="1569172">
                  <a:moveTo>
                    <a:pt x="0" y="0"/>
                  </a:moveTo>
                  <a:lnTo>
                    <a:pt x="1569173" y="0"/>
                  </a:lnTo>
                  <a:lnTo>
                    <a:pt x="1569173" y="1569172"/>
                  </a:lnTo>
                  <a:lnTo>
                    <a:pt x="0" y="156917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sp>
        <p:nvSpPr>
          <p:cNvPr id="10" name="TextBox 10"/>
          <p:cNvSpPr txBox="1"/>
          <p:nvPr/>
        </p:nvSpPr>
        <p:spPr>
          <a:xfrm>
            <a:off x="1353345" y="874502"/>
            <a:ext cx="6271511" cy="1191146"/>
          </a:xfrm>
          <a:prstGeom prst="rect">
            <a:avLst/>
          </a:prstGeom>
        </p:spPr>
        <p:txBody>
          <a:bodyPr lIns="0" tIns="0" rIns="0" bIns="0" rtlCol="0" anchor="t">
            <a:spAutoFit/>
          </a:bodyPr>
          <a:lstStyle/>
          <a:p>
            <a:pPr algn="l">
              <a:lnSpc>
                <a:spcPts val="8061"/>
              </a:lnSpc>
            </a:pPr>
            <a:r>
              <a:rPr lang="en-US" sz="8762" b="1" spc="-587">
                <a:solidFill>
                  <a:srgbClr val="377328"/>
                </a:solidFill>
                <a:latin typeface="Telegraf Bold"/>
                <a:ea typeface="Telegraf Bold"/>
                <a:cs typeface="Telegraf Bold"/>
                <a:sym typeface="Telegraf Bold"/>
              </a:rPr>
              <a:t>Objective</a:t>
            </a:r>
          </a:p>
        </p:txBody>
      </p:sp>
      <p:sp>
        <p:nvSpPr>
          <p:cNvPr id="11" name="TextBox 11"/>
          <p:cNvSpPr txBox="1"/>
          <p:nvPr/>
        </p:nvSpPr>
        <p:spPr>
          <a:xfrm>
            <a:off x="1353345" y="2707752"/>
            <a:ext cx="15509913" cy="6705601"/>
          </a:xfrm>
          <a:prstGeom prst="rect">
            <a:avLst/>
          </a:prstGeom>
        </p:spPr>
        <p:txBody>
          <a:bodyPr lIns="0" tIns="0" rIns="0" bIns="0" rtlCol="0" anchor="t">
            <a:spAutoFit/>
          </a:bodyPr>
          <a:lstStyle/>
          <a:p>
            <a:pPr marL="647694" lvl="1" indent="-323847" algn="just">
              <a:lnSpc>
                <a:spcPts val="4499"/>
              </a:lnSpc>
              <a:buFont typeface="Arial"/>
              <a:buChar char="•"/>
            </a:pPr>
            <a:r>
              <a:rPr lang="en-US" sz="2999">
                <a:solidFill>
                  <a:srgbClr val="171A18"/>
                </a:solidFill>
                <a:latin typeface="Canva Sans"/>
                <a:ea typeface="Canva Sans"/>
                <a:cs typeface="Canva Sans"/>
                <a:sym typeface="Canva Sans"/>
              </a:rPr>
              <a:t>To develop an AI-based system that assists farmers in making informed agricultural decisions.</a:t>
            </a:r>
          </a:p>
          <a:p>
            <a:pPr marL="647694" lvl="1" indent="-323847" algn="just">
              <a:lnSpc>
                <a:spcPts val="4499"/>
              </a:lnSpc>
              <a:buFont typeface="Arial"/>
              <a:buChar char="•"/>
            </a:pPr>
            <a:r>
              <a:rPr lang="en-US" sz="2999">
                <a:solidFill>
                  <a:srgbClr val="171A18"/>
                </a:solidFill>
                <a:latin typeface="Canva Sans"/>
                <a:ea typeface="Canva Sans"/>
                <a:cs typeface="Canva Sans"/>
                <a:sym typeface="Canva Sans"/>
              </a:rPr>
              <a:t>To detect crop diseases using image processing and machine learning techniques.</a:t>
            </a:r>
          </a:p>
          <a:p>
            <a:pPr marL="647694" lvl="1" indent="-323847" algn="just">
              <a:lnSpc>
                <a:spcPts val="4499"/>
              </a:lnSpc>
              <a:buFont typeface="Arial"/>
              <a:buChar char="•"/>
            </a:pPr>
            <a:r>
              <a:rPr lang="en-US" sz="2999">
                <a:solidFill>
                  <a:srgbClr val="171A18"/>
                </a:solidFill>
                <a:latin typeface="Canva Sans"/>
                <a:ea typeface="Canva Sans"/>
                <a:cs typeface="Canva Sans"/>
                <a:sym typeface="Canva Sans"/>
              </a:rPr>
              <a:t>To recommend suitable crops based on soil type, weather, and environmental conditions.</a:t>
            </a:r>
          </a:p>
          <a:p>
            <a:pPr marL="647694" lvl="1" indent="-323847" algn="just">
              <a:lnSpc>
                <a:spcPts val="4499"/>
              </a:lnSpc>
              <a:buFont typeface="Arial"/>
              <a:buChar char="•"/>
            </a:pPr>
            <a:r>
              <a:rPr lang="en-US" sz="2999">
                <a:solidFill>
                  <a:srgbClr val="171A18"/>
                </a:solidFill>
                <a:latin typeface="Canva Sans"/>
                <a:ea typeface="Canva Sans"/>
                <a:cs typeface="Canva Sans"/>
                <a:sym typeface="Canva Sans"/>
              </a:rPr>
              <a:t>To provide real-time weather updates to help in planning farming activities.</a:t>
            </a:r>
          </a:p>
          <a:p>
            <a:pPr marL="647694" lvl="1" indent="-323847" algn="just">
              <a:lnSpc>
                <a:spcPts val="4499"/>
              </a:lnSpc>
              <a:buFont typeface="Arial"/>
              <a:buChar char="•"/>
            </a:pPr>
            <a:r>
              <a:rPr lang="en-US" sz="2999">
                <a:solidFill>
                  <a:srgbClr val="171A18"/>
                </a:solidFill>
                <a:latin typeface="Canva Sans"/>
                <a:ea typeface="Canva Sans"/>
                <a:cs typeface="Canva Sans"/>
                <a:sym typeface="Canva Sans"/>
              </a:rPr>
              <a:t>To analyze and predict market prices for better selling decisions.</a:t>
            </a:r>
          </a:p>
          <a:p>
            <a:pPr marL="647694" lvl="1" indent="-323847" algn="just">
              <a:lnSpc>
                <a:spcPts val="4499"/>
              </a:lnSpc>
              <a:buFont typeface="Arial"/>
              <a:buChar char="•"/>
            </a:pPr>
            <a:r>
              <a:rPr lang="en-US" sz="2999">
                <a:solidFill>
                  <a:srgbClr val="171A18"/>
                </a:solidFill>
                <a:latin typeface="Canva Sans"/>
                <a:ea typeface="Canva Sans"/>
                <a:cs typeface="Canva Sans"/>
                <a:sym typeface="Canva Sans"/>
              </a:rPr>
              <a:t>To create a user-friendly platform accessible to farmers with minimal technical knowledge.</a:t>
            </a:r>
          </a:p>
          <a:p>
            <a:pPr marL="647694" lvl="1" indent="-323847" algn="just">
              <a:lnSpc>
                <a:spcPts val="4499"/>
              </a:lnSpc>
              <a:buFont typeface="Arial"/>
              <a:buChar char="•"/>
            </a:pPr>
            <a:r>
              <a:rPr lang="en-US" sz="2999">
                <a:solidFill>
                  <a:srgbClr val="171A18"/>
                </a:solidFill>
                <a:latin typeface="Canva Sans"/>
                <a:ea typeface="Canva Sans"/>
                <a:cs typeface="Canva Sans"/>
                <a:sym typeface="Canva Sans"/>
              </a:rPr>
              <a:t>To promote efficient, sustainable, and technology-driven farming practices.</a:t>
            </a:r>
          </a:p>
          <a:p>
            <a:pPr algn="just">
              <a:lnSpc>
                <a:spcPts val="4499"/>
              </a:lnSpc>
            </a:pPr>
            <a:endParaRPr lang="en-US" sz="2999">
              <a:solidFill>
                <a:srgbClr val="171A18"/>
              </a:solidFill>
              <a:latin typeface="Canva Sans"/>
              <a:ea typeface="Canva Sans"/>
              <a:cs typeface="Canva Sans"/>
              <a:sym typeface="Canv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234115" y="437425"/>
            <a:ext cx="9819770" cy="1591296"/>
            <a:chOff x="0" y="0"/>
            <a:chExt cx="13093026" cy="2121728"/>
          </a:xfrm>
        </p:grpSpPr>
        <p:sp>
          <p:nvSpPr>
            <p:cNvPr id="3" name="Freeform 3"/>
            <p:cNvSpPr/>
            <p:nvPr/>
          </p:nvSpPr>
          <p:spPr>
            <a:xfrm>
              <a:off x="11287921" y="311862"/>
              <a:ext cx="1805105" cy="1503154"/>
            </a:xfrm>
            <a:custGeom>
              <a:avLst/>
              <a:gdLst/>
              <a:ahLst/>
              <a:cxnLst/>
              <a:rect l="l" t="t" r="r" b="b"/>
              <a:pathLst>
                <a:path w="1805105" h="1503154">
                  <a:moveTo>
                    <a:pt x="0" y="0"/>
                  </a:moveTo>
                  <a:lnTo>
                    <a:pt x="1805105" y="0"/>
                  </a:lnTo>
                  <a:lnTo>
                    <a:pt x="1805105" y="1503155"/>
                  </a:lnTo>
                  <a:lnTo>
                    <a:pt x="0" y="150315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0" y="-314325"/>
              <a:ext cx="11092176" cy="2436053"/>
            </a:xfrm>
            <a:prstGeom prst="rect">
              <a:avLst/>
            </a:prstGeom>
          </p:spPr>
          <p:txBody>
            <a:bodyPr lIns="0" tIns="0" rIns="0" bIns="0" rtlCol="0" anchor="t">
              <a:spAutoFit/>
            </a:bodyPr>
            <a:lstStyle/>
            <a:p>
              <a:pPr algn="just">
                <a:lnSpc>
                  <a:spcPts val="14665"/>
                </a:lnSpc>
                <a:spcBef>
                  <a:spcPct val="0"/>
                </a:spcBef>
              </a:pPr>
              <a:r>
                <a:rPr lang="en-US" sz="10475" b="1" spc="-460">
                  <a:solidFill>
                    <a:srgbClr val="377328"/>
                  </a:solidFill>
                  <a:latin typeface="Telegraf Bold"/>
                  <a:ea typeface="Telegraf Bold"/>
                  <a:cs typeface="Telegraf Bold"/>
                  <a:sym typeface="Telegraf Bold"/>
                </a:rPr>
                <a:t>Stakeholders</a:t>
              </a:r>
            </a:p>
          </p:txBody>
        </p:sp>
      </p:grpSp>
      <p:grpSp>
        <p:nvGrpSpPr>
          <p:cNvPr id="5" name="Group 5"/>
          <p:cNvGrpSpPr/>
          <p:nvPr/>
        </p:nvGrpSpPr>
        <p:grpSpPr>
          <a:xfrm>
            <a:off x="0" y="0"/>
            <a:ext cx="18288000" cy="537614"/>
            <a:chOff x="0" y="0"/>
            <a:chExt cx="4816593" cy="141594"/>
          </a:xfrm>
        </p:grpSpPr>
        <p:sp>
          <p:nvSpPr>
            <p:cNvPr id="6" name="Freeform 6"/>
            <p:cNvSpPr/>
            <p:nvPr/>
          </p:nvSpPr>
          <p:spPr>
            <a:xfrm>
              <a:off x="0" y="0"/>
              <a:ext cx="4816592" cy="141594"/>
            </a:xfrm>
            <a:custGeom>
              <a:avLst/>
              <a:gdLst/>
              <a:ahLst/>
              <a:cxnLst/>
              <a:rect l="l" t="t" r="r" b="b"/>
              <a:pathLst>
                <a:path w="4816592" h="141594">
                  <a:moveTo>
                    <a:pt x="0" y="0"/>
                  </a:moveTo>
                  <a:lnTo>
                    <a:pt x="4816592" y="0"/>
                  </a:lnTo>
                  <a:lnTo>
                    <a:pt x="4816592" y="141594"/>
                  </a:lnTo>
                  <a:lnTo>
                    <a:pt x="0" y="141594"/>
                  </a:lnTo>
                  <a:close/>
                </a:path>
              </a:pathLst>
            </a:custGeom>
            <a:solidFill>
              <a:srgbClr val="377328"/>
            </a:solidFill>
          </p:spPr>
        </p:sp>
        <p:sp>
          <p:nvSpPr>
            <p:cNvPr id="7" name="TextBox 7"/>
            <p:cNvSpPr txBox="1"/>
            <p:nvPr/>
          </p:nvSpPr>
          <p:spPr>
            <a:xfrm>
              <a:off x="0" y="-38100"/>
              <a:ext cx="4816593" cy="179694"/>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42334" y="3336"/>
            <a:ext cx="3483887" cy="534277"/>
            <a:chOff x="0" y="0"/>
            <a:chExt cx="917567" cy="140715"/>
          </a:xfrm>
        </p:grpSpPr>
        <p:sp>
          <p:nvSpPr>
            <p:cNvPr id="9" name="Freeform 9"/>
            <p:cNvSpPr/>
            <p:nvPr/>
          </p:nvSpPr>
          <p:spPr>
            <a:xfrm>
              <a:off x="0" y="0"/>
              <a:ext cx="917567" cy="140715"/>
            </a:xfrm>
            <a:custGeom>
              <a:avLst/>
              <a:gdLst/>
              <a:ahLst/>
              <a:cxnLst/>
              <a:rect l="l" t="t" r="r" b="b"/>
              <a:pathLst>
                <a:path w="917567" h="140715">
                  <a:moveTo>
                    <a:pt x="0" y="0"/>
                  </a:moveTo>
                  <a:lnTo>
                    <a:pt x="917567" y="0"/>
                  </a:lnTo>
                  <a:lnTo>
                    <a:pt x="917567" y="140715"/>
                  </a:lnTo>
                  <a:lnTo>
                    <a:pt x="0" y="140715"/>
                  </a:lnTo>
                  <a:close/>
                </a:path>
              </a:pathLst>
            </a:custGeom>
            <a:solidFill>
              <a:srgbClr val="C5E7B0"/>
            </a:solidFill>
          </p:spPr>
        </p:sp>
        <p:sp>
          <p:nvSpPr>
            <p:cNvPr id="10" name="TextBox 10"/>
            <p:cNvSpPr txBox="1"/>
            <p:nvPr/>
          </p:nvSpPr>
          <p:spPr>
            <a:xfrm>
              <a:off x="0" y="-38100"/>
              <a:ext cx="917567" cy="178815"/>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505960" y="2028721"/>
            <a:ext cx="3205415" cy="2453600"/>
          </a:xfrm>
          <a:custGeom>
            <a:avLst/>
            <a:gdLst/>
            <a:ahLst/>
            <a:cxnLst/>
            <a:rect l="l" t="t" r="r" b="b"/>
            <a:pathLst>
              <a:path w="3205415" h="2453600">
                <a:moveTo>
                  <a:pt x="0" y="0"/>
                </a:moveTo>
                <a:lnTo>
                  <a:pt x="3205415" y="0"/>
                </a:lnTo>
                <a:lnTo>
                  <a:pt x="3205415" y="2453600"/>
                </a:lnTo>
                <a:lnTo>
                  <a:pt x="0" y="2453600"/>
                </a:lnTo>
                <a:lnTo>
                  <a:pt x="0" y="0"/>
                </a:lnTo>
                <a:close/>
              </a:path>
            </a:pathLst>
          </a:custGeom>
          <a:blipFill>
            <a:blip r:embed="rId3"/>
            <a:stretch>
              <a:fillRect/>
            </a:stretch>
          </a:blipFill>
        </p:spPr>
      </p:sp>
      <p:grpSp>
        <p:nvGrpSpPr>
          <p:cNvPr id="12" name="Group 12"/>
          <p:cNvGrpSpPr/>
          <p:nvPr/>
        </p:nvGrpSpPr>
        <p:grpSpPr>
          <a:xfrm>
            <a:off x="1438495" y="4210010"/>
            <a:ext cx="3340346" cy="544621"/>
            <a:chOff x="0" y="0"/>
            <a:chExt cx="879762" cy="143439"/>
          </a:xfrm>
        </p:grpSpPr>
        <p:sp>
          <p:nvSpPr>
            <p:cNvPr id="13" name="Freeform 13"/>
            <p:cNvSpPr/>
            <p:nvPr/>
          </p:nvSpPr>
          <p:spPr>
            <a:xfrm>
              <a:off x="0" y="0"/>
              <a:ext cx="879762" cy="143439"/>
            </a:xfrm>
            <a:custGeom>
              <a:avLst/>
              <a:gdLst/>
              <a:ahLst/>
              <a:cxnLst/>
              <a:rect l="l" t="t" r="r" b="b"/>
              <a:pathLst>
                <a:path w="879762" h="143439">
                  <a:moveTo>
                    <a:pt x="0" y="0"/>
                  </a:moveTo>
                  <a:lnTo>
                    <a:pt x="879762" y="0"/>
                  </a:lnTo>
                  <a:lnTo>
                    <a:pt x="879762" y="143439"/>
                  </a:lnTo>
                  <a:lnTo>
                    <a:pt x="0" y="143439"/>
                  </a:lnTo>
                  <a:close/>
                </a:path>
              </a:pathLst>
            </a:custGeom>
            <a:solidFill>
              <a:srgbClr val="377328"/>
            </a:solidFill>
          </p:spPr>
        </p:sp>
        <p:sp>
          <p:nvSpPr>
            <p:cNvPr id="14" name="TextBox 14"/>
            <p:cNvSpPr txBox="1"/>
            <p:nvPr/>
          </p:nvSpPr>
          <p:spPr>
            <a:xfrm>
              <a:off x="0" y="-38100"/>
              <a:ext cx="879762" cy="181539"/>
            </a:xfrm>
            <a:prstGeom prst="rect">
              <a:avLst/>
            </a:prstGeom>
          </p:spPr>
          <p:txBody>
            <a:bodyPr lIns="50800" tIns="50800" rIns="50800" bIns="50800" rtlCol="0" anchor="ctr"/>
            <a:lstStyle/>
            <a:p>
              <a:pPr algn="ctr">
                <a:lnSpc>
                  <a:spcPts val="3359"/>
                </a:lnSpc>
              </a:pPr>
              <a:r>
                <a:rPr lang="en-US" sz="2399">
                  <a:solidFill>
                    <a:srgbClr val="FFFFFF"/>
                  </a:solidFill>
                  <a:latin typeface="Canva Sans"/>
                  <a:ea typeface="Canva Sans"/>
                  <a:cs typeface="Canva Sans"/>
                  <a:sym typeface="Canva Sans"/>
                </a:rPr>
                <a:t>FARMERS</a:t>
              </a:r>
            </a:p>
          </p:txBody>
        </p:sp>
      </p:grpSp>
      <p:sp>
        <p:nvSpPr>
          <p:cNvPr id="15" name="Freeform 15"/>
          <p:cNvSpPr/>
          <p:nvPr/>
        </p:nvSpPr>
        <p:spPr>
          <a:xfrm>
            <a:off x="7727020" y="2155102"/>
            <a:ext cx="2694903" cy="2200838"/>
          </a:xfrm>
          <a:custGeom>
            <a:avLst/>
            <a:gdLst/>
            <a:ahLst/>
            <a:cxnLst/>
            <a:rect l="l" t="t" r="r" b="b"/>
            <a:pathLst>
              <a:path w="2694903" h="2200838">
                <a:moveTo>
                  <a:pt x="0" y="0"/>
                </a:moveTo>
                <a:lnTo>
                  <a:pt x="2694903" y="0"/>
                </a:lnTo>
                <a:lnTo>
                  <a:pt x="2694903" y="2200838"/>
                </a:lnTo>
                <a:lnTo>
                  <a:pt x="0" y="2200838"/>
                </a:lnTo>
                <a:lnTo>
                  <a:pt x="0" y="0"/>
                </a:lnTo>
                <a:close/>
              </a:path>
            </a:pathLst>
          </a:custGeom>
          <a:blipFill>
            <a:blip r:embed="rId4"/>
            <a:stretch>
              <a:fillRect/>
            </a:stretch>
          </a:blipFill>
        </p:spPr>
      </p:sp>
      <p:grpSp>
        <p:nvGrpSpPr>
          <p:cNvPr id="16" name="Group 16"/>
          <p:cNvGrpSpPr/>
          <p:nvPr/>
        </p:nvGrpSpPr>
        <p:grpSpPr>
          <a:xfrm>
            <a:off x="7404299" y="4210010"/>
            <a:ext cx="3340346" cy="544621"/>
            <a:chOff x="0" y="0"/>
            <a:chExt cx="879762" cy="143439"/>
          </a:xfrm>
        </p:grpSpPr>
        <p:sp>
          <p:nvSpPr>
            <p:cNvPr id="17" name="Freeform 17"/>
            <p:cNvSpPr/>
            <p:nvPr/>
          </p:nvSpPr>
          <p:spPr>
            <a:xfrm>
              <a:off x="0" y="0"/>
              <a:ext cx="879762" cy="143439"/>
            </a:xfrm>
            <a:custGeom>
              <a:avLst/>
              <a:gdLst/>
              <a:ahLst/>
              <a:cxnLst/>
              <a:rect l="l" t="t" r="r" b="b"/>
              <a:pathLst>
                <a:path w="879762" h="143439">
                  <a:moveTo>
                    <a:pt x="0" y="0"/>
                  </a:moveTo>
                  <a:lnTo>
                    <a:pt x="879762" y="0"/>
                  </a:lnTo>
                  <a:lnTo>
                    <a:pt x="879762" y="143439"/>
                  </a:lnTo>
                  <a:lnTo>
                    <a:pt x="0" y="143439"/>
                  </a:lnTo>
                  <a:close/>
                </a:path>
              </a:pathLst>
            </a:custGeom>
            <a:solidFill>
              <a:srgbClr val="377328"/>
            </a:solidFill>
          </p:spPr>
        </p:sp>
        <p:sp>
          <p:nvSpPr>
            <p:cNvPr id="18" name="TextBox 18"/>
            <p:cNvSpPr txBox="1"/>
            <p:nvPr/>
          </p:nvSpPr>
          <p:spPr>
            <a:xfrm>
              <a:off x="0" y="-38100"/>
              <a:ext cx="879762" cy="181539"/>
            </a:xfrm>
            <a:prstGeom prst="rect">
              <a:avLst/>
            </a:prstGeom>
          </p:spPr>
          <p:txBody>
            <a:bodyPr lIns="50800" tIns="50800" rIns="50800" bIns="50800" rtlCol="0" anchor="ctr"/>
            <a:lstStyle/>
            <a:p>
              <a:pPr algn="ctr">
                <a:lnSpc>
                  <a:spcPts val="3359"/>
                </a:lnSpc>
              </a:pPr>
              <a:r>
                <a:rPr lang="en-US" sz="2399">
                  <a:solidFill>
                    <a:srgbClr val="FFFFFF"/>
                  </a:solidFill>
                  <a:latin typeface="Canva Sans"/>
                  <a:ea typeface="Canva Sans"/>
                  <a:cs typeface="Canva Sans"/>
                  <a:sym typeface="Canva Sans"/>
                </a:rPr>
                <a:t>Agricultural Experts</a:t>
              </a:r>
            </a:p>
          </p:txBody>
        </p:sp>
      </p:grpSp>
      <p:sp>
        <p:nvSpPr>
          <p:cNvPr id="19" name="Freeform 19"/>
          <p:cNvSpPr/>
          <p:nvPr/>
        </p:nvSpPr>
        <p:spPr>
          <a:xfrm>
            <a:off x="13527629" y="2155102"/>
            <a:ext cx="2200838" cy="2200838"/>
          </a:xfrm>
          <a:custGeom>
            <a:avLst/>
            <a:gdLst/>
            <a:ahLst/>
            <a:cxnLst/>
            <a:rect l="l" t="t" r="r" b="b"/>
            <a:pathLst>
              <a:path w="2200838" h="2200838">
                <a:moveTo>
                  <a:pt x="0" y="0"/>
                </a:moveTo>
                <a:lnTo>
                  <a:pt x="2200838" y="0"/>
                </a:lnTo>
                <a:lnTo>
                  <a:pt x="2200838" y="2200838"/>
                </a:lnTo>
                <a:lnTo>
                  <a:pt x="0" y="2200838"/>
                </a:lnTo>
                <a:lnTo>
                  <a:pt x="0" y="0"/>
                </a:lnTo>
                <a:close/>
              </a:path>
            </a:pathLst>
          </a:custGeom>
          <a:blipFill>
            <a:blip r:embed="rId5"/>
            <a:stretch>
              <a:fillRect/>
            </a:stretch>
          </a:blipFill>
        </p:spPr>
      </p:sp>
      <p:grpSp>
        <p:nvGrpSpPr>
          <p:cNvPr id="20" name="Group 20"/>
          <p:cNvGrpSpPr/>
          <p:nvPr/>
        </p:nvGrpSpPr>
        <p:grpSpPr>
          <a:xfrm>
            <a:off x="12957875" y="4210010"/>
            <a:ext cx="3340346" cy="544621"/>
            <a:chOff x="0" y="0"/>
            <a:chExt cx="879762" cy="143439"/>
          </a:xfrm>
        </p:grpSpPr>
        <p:sp>
          <p:nvSpPr>
            <p:cNvPr id="21" name="Freeform 21"/>
            <p:cNvSpPr/>
            <p:nvPr/>
          </p:nvSpPr>
          <p:spPr>
            <a:xfrm>
              <a:off x="0" y="0"/>
              <a:ext cx="879762" cy="143439"/>
            </a:xfrm>
            <a:custGeom>
              <a:avLst/>
              <a:gdLst/>
              <a:ahLst/>
              <a:cxnLst/>
              <a:rect l="l" t="t" r="r" b="b"/>
              <a:pathLst>
                <a:path w="879762" h="143439">
                  <a:moveTo>
                    <a:pt x="0" y="0"/>
                  </a:moveTo>
                  <a:lnTo>
                    <a:pt x="879762" y="0"/>
                  </a:lnTo>
                  <a:lnTo>
                    <a:pt x="879762" y="143439"/>
                  </a:lnTo>
                  <a:lnTo>
                    <a:pt x="0" y="143439"/>
                  </a:lnTo>
                  <a:close/>
                </a:path>
              </a:pathLst>
            </a:custGeom>
            <a:solidFill>
              <a:srgbClr val="377328"/>
            </a:solidFill>
          </p:spPr>
        </p:sp>
        <p:sp>
          <p:nvSpPr>
            <p:cNvPr id="22" name="TextBox 22"/>
            <p:cNvSpPr txBox="1"/>
            <p:nvPr/>
          </p:nvSpPr>
          <p:spPr>
            <a:xfrm>
              <a:off x="0" y="-38100"/>
              <a:ext cx="879762" cy="181539"/>
            </a:xfrm>
            <a:prstGeom prst="rect">
              <a:avLst/>
            </a:prstGeom>
          </p:spPr>
          <p:txBody>
            <a:bodyPr lIns="50800" tIns="50800" rIns="50800" bIns="50800" rtlCol="0" anchor="ctr"/>
            <a:lstStyle/>
            <a:p>
              <a:pPr algn="ctr">
                <a:lnSpc>
                  <a:spcPts val="3359"/>
                </a:lnSpc>
              </a:pPr>
              <a:r>
                <a:rPr lang="en-US" sz="2399">
                  <a:solidFill>
                    <a:srgbClr val="FFFFFF"/>
                  </a:solidFill>
                  <a:latin typeface="Canva Sans"/>
                  <a:ea typeface="Canva Sans"/>
                  <a:cs typeface="Canva Sans"/>
                  <a:sym typeface="Canva Sans"/>
                </a:rPr>
                <a:t>Government Agencies</a:t>
              </a:r>
            </a:p>
          </p:txBody>
        </p:sp>
      </p:grpSp>
      <p:grpSp>
        <p:nvGrpSpPr>
          <p:cNvPr id="23" name="Group 23"/>
          <p:cNvGrpSpPr/>
          <p:nvPr/>
        </p:nvGrpSpPr>
        <p:grpSpPr>
          <a:xfrm>
            <a:off x="12682755" y="8713679"/>
            <a:ext cx="3890586" cy="544621"/>
            <a:chOff x="0" y="0"/>
            <a:chExt cx="1024681" cy="143439"/>
          </a:xfrm>
        </p:grpSpPr>
        <p:sp>
          <p:nvSpPr>
            <p:cNvPr id="24" name="Freeform 24"/>
            <p:cNvSpPr/>
            <p:nvPr/>
          </p:nvSpPr>
          <p:spPr>
            <a:xfrm>
              <a:off x="0" y="0"/>
              <a:ext cx="1024681" cy="143439"/>
            </a:xfrm>
            <a:custGeom>
              <a:avLst/>
              <a:gdLst/>
              <a:ahLst/>
              <a:cxnLst/>
              <a:rect l="l" t="t" r="r" b="b"/>
              <a:pathLst>
                <a:path w="1024681" h="143439">
                  <a:moveTo>
                    <a:pt x="0" y="0"/>
                  </a:moveTo>
                  <a:lnTo>
                    <a:pt x="1024681" y="0"/>
                  </a:lnTo>
                  <a:lnTo>
                    <a:pt x="1024681" y="143439"/>
                  </a:lnTo>
                  <a:lnTo>
                    <a:pt x="0" y="143439"/>
                  </a:lnTo>
                  <a:close/>
                </a:path>
              </a:pathLst>
            </a:custGeom>
            <a:solidFill>
              <a:srgbClr val="377328"/>
            </a:solidFill>
          </p:spPr>
        </p:sp>
        <p:sp>
          <p:nvSpPr>
            <p:cNvPr id="25" name="TextBox 25"/>
            <p:cNvSpPr txBox="1"/>
            <p:nvPr/>
          </p:nvSpPr>
          <p:spPr>
            <a:xfrm>
              <a:off x="0" y="-38100"/>
              <a:ext cx="1024681" cy="181539"/>
            </a:xfrm>
            <a:prstGeom prst="rect">
              <a:avLst/>
            </a:prstGeom>
          </p:spPr>
          <p:txBody>
            <a:bodyPr lIns="50800" tIns="50800" rIns="50800" bIns="50800" rtlCol="0" anchor="ctr"/>
            <a:lstStyle/>
            <a:p>
              <a:pPr algn="ctr">
                <a:lnSpc>
                  <a:spcPts val="3359"/>
                </a:lnSpc>
              </a:pPr>
              <a:r>
                <a:rPr lang="en-US" sz="2399">
                  <a:solidFill>
                    <a:srgbClr val="FFFFFF"/>
                  </a:solidFill>
                  <a:latin typeface="Canva Sans"/>
                  <a:ea typeface="Canva Sans"/>
                  <a:cs typeface="Canva Sans"/>
                  <a:sym typeface="Canva Sans"/>
                </a:rPr>
                <a:t>Market Vendors/Buyers:</a:t>
              </a:r>
            </a:p>
          </p:txBody>
        </p:sp>
      </p:grpSp>
      <p:sp>
        <p:nvSpPr>
          <p:cNvPr id="26" name="Freeform 26"/>
          <p:cNvSpPr/>
          <p:nvPr/>
        </p:nvSpPr>
        <p:spPr>
          <a:xfrm>
            <a:off x="2142101" y="6566272"/>
            <a:ext cx="1965963" cy="2188826"/>
          </a:xfrm>
          <a:custGeom>
            <a:avLst/>
            <a:gdLst/>
            <a:ahLst/>
            <a:cxnLst/>
            <a:rect l="l" t="t" r="r" b="b"/>
            <a:pathLst>
              <a:path w="1965963" h="2188826">
                <a:moveTo>
                  <a:pt x="0" y="0"/>
                </a:moveTo>
                <a:lnTo>
                  <a:pt x="1965963" y="0"/>
                </a:lnTo>
                <a:lnTo>
                  <a:pt x="1965963" y="2188825"/>
                </a:lnTo>
                <a:lnTo>
                  <a:pt x="0" y="2188825"/>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27" name="Group 27"/>
          <p:cNvGrpSpPr/>
          <p:nvPr/>
        </p:nvGrpSpPr>
        <p:grpSpPr>
          <a:xfrm>
            <a:off x="1096057" y="8755097"/>
            <a:ext cx="4058050" cy="544621"/>
            <a:chOff x="0" y="0"/>
            <a:chExt cx="1068787" cy="143439"/>
          </a:xfrm>
        </p:grpSpPr>
        <p:sp>
          <p:nvSpPr>
            <p:cNvPr id="28" name="Freeform 28"/>
            <p:cNvSpPr/>
            <p:nvPr/>
          </p:nvSpPr>
          <p:spPr>
            <a:xfrm>
              <a:off x="0" y="0"/>
              <a:ext cx="1068787" cy="143439"/>
            </a:xfrm>
            <a:custGeom>
              <a:avLst/>
              <a:gdLst/>
              <a:ahLst/>
              <a:cxnLst/>
              <a:rect l="l" t="t" r="r" b="b"/>
              <a:pathLst>
                <a:path w="1068787" h="143439">
                  <a:moveTo>
                    <a:pt x="0" y="0"/>
                  </a:moveTo>
                  <a:lnTo>
                    <a:pt x="1068787" y="0"/>
                  </a:lnTo>
                  <a:lnTo>
                    <a:pt x="1068787" y="143439"/>
                  </a:lnTo>
                  <a:lnTo>
                    <a:pt x="0" y="143439"/>
                  </a:lnTo>
                  <a:close/>
                </a:path>
              </a:pathLst>
            </a:custGeom>
            <a:solidFill>
              <a:srgbClr val="377328"/>
            </a:solidFill>
          </p:spPr>
        </p:sp>
        <p:sp>
          <p:nvSpPr>
            <p:cNvPr id="29" name="TextBox 29"/>
            <p:cNvSpPr txBox="1"/>
            <p:nvPr/>
          </p:nvSpPr>
          <p:spPr>
            <a:xfrm>
              <a:off x="0" y="-38100"/>
              <a:ext cx="1068787" cy="181539"/>
            </a:xfrm>
            <a:prstGeom prst="rect">
              <a:avLst/>
            </a:prstGeom>
          </p:spPr>
          <p:txBody>
            <a:bodyPr lIns="50800" tIns="50800" rIns="50800" bIns="50800" rtlCol="0" anchor="ctr"/>
            <a:lstStyle/>
            <a:p>
              <a:pPr algn="ctr">
                <a:lnSpc>
                  <a:spcPts val="3359"/>
                </a:lnSpc>
              </a:pPr>
              <a:r>
                <a:rPr lang="en-US" sz="2399">
                  <a:solidFill>
                    <a:srgbClr val="FFFFFF"/>
                  </a:solidFill>
                  <a:latin typeface="Canva Sans"/>
                  <a:ea typeface="Canva Sans"/>
                  <a:cs typeface="Canva Sans"/>
                  <a:sym typeface="Canva Sans"/>
                </a:rPr>
                <a:t>Researchers &amp; Developers</a:t>
              </a:r>
            </a:p>
          </p:txBody>
        </p:sp>
      </p:grpSp>
      <p:sp>
        <p:nvSpPr>
          <p:cNvPr id="30" name="Freeform 30"/>
          <p:cNvSpPr/>
          <p:nvPr/>
        </p:nvSpPr>
        <p:spPr>
          <a:xfrm>
            <a:off x="7545540" y="6566272"/>
            <a:ext cx="2512045" cy="2242571"/>
          </a:xfrm>
          <a:custGeom>
            <a:avLst/>
            <a:gdLst/>
            <a:ahLst/>
            <a:cxnLst/>
            <a:rect l="l" t="t" r="r" b="b"/>
            <a:pathLst>
              <a:path w="2512045" h="2242571">
                <a:moveTo>
                  <a:pt x="0" y="0"/>
                </a:moveTo>
                <a:lnTo>
                  <a:pt x="2512045" y="0"/>
                </a:lnTo>
                <a:lnTo>
                  <a:pt x="2512045" y="2242570"/>
                </a:lnTo>
                <a:lnTo>
                  <a:pt x="0" y="2242570"/>
                </a:lnTo>
                <a:lnTo>
                  <a:pt x="0" y="0"/>
                </a:lnTo>
                <a:close/>
              </a:path>
            </a:pathLst>
          </a:custGeom>
          <a:blipFill>
            <a:blip r:embed="rId7"/>
            <a:stretch>
              <a:fillRect/>
            </a:stretch>
          </a:blipFill>
        </p:spPr>
      </p:sp>
      <p:grpSp>
        <p:nvGrpSpPr>
          <p:cNvPr id="31" name="Group 31"/>
          <p:cNvGrpSpPr/>
          <p:nvPr/>
        </p:nvGrpSpPr>
        <p:grpSpPr>
          <a:xfrm>
            <a:off x="6664882" y="8755097"/>
            <a:ext cx="4273361" cy="544621"/>
            <a:chOff x="0" y="0"/>
            <a:chExt cx="1125494" cy="143439"/>
          </a:xfrm>
        </p:grpSpPr>
        <p:sp>
          <p:nvSpPr>
            <p:cNvPr id="32" name="Freeform 32"/>
            <p:cNvSpPr/>
            <p:nvPr/>
          </p:nvSpPr>
          <p:spPr>
            <a:xfrm>
              <a:off x="0" y="0"/>
              <a:ext cx="1125494" cy="143439"/>
            </a:xfrm>
            <a:custGeom>
              <a:avLst/>
              <a:gdLst/>
              <a:ahLst/>
              <a:cxnLst/>
              <a:rect l="l" t="t" r="r" b="b"/>
              <a:pathLst>
                <a:path w="1125494" h="143439">
                  <a:moveTo>
                    <a:pt x="0" y="0"/>
                  </a:moveTo>
                  <a:lnTo>
                    <a:pt x="1125494" y="0"/>
                  </a:lnTo>
                  <a:lnTo>
                    <a:pt x="1125494" y="143439"/>
                  </a:lnTo>
                  <a:lnTo>
                    <a:pt x="0" y="143439"/>
                  </a:lnTo>
                  <a:close/>
                </a:path>
              </a:pathLst>
            </a:custGeom>
            <a:solidFill>
              <a:srgbClr val="377328"/>
            </a:solidFill>
          </p:spPr>
        </p:sp>
        <p:sp>
          <p:nvSpPr>
            <p:cNvPr id="33" name="TextBox 33"/>
            <p:cNvSpPr txBox="1"/>
            <p:nvPr/>
          </p:nvSpPr>
          <p:spPr>
            <a:xfrm>
              <a:off x="0" y="-38100"/>
              <a:ext cx="1125494" cy="181539"/>
            </a:xfrm>
            <a:prstGeom prst="rect">
              <a:avLst/>
            </a:prstGeom>
          </p:spPr>
          <p:txBody>
            <a:bodyPr lIns="50800" tIns="50800" rIns="50800" bIns="50800" rtlCol="0" anchor="ctr"/>
            <a:lstStyle/>
            <a:p>
              <a:pPr algn="ctr">
                <a:lnSpc>
                  <a:spcPts val="3359"/>
                </a:lnSpc>
              </a:pPr>
              <a:r>
                <a:rPr lang="en-US" sz="2399">
                  <a:solidFill>
                    <a:srgbClr val="FFFFFF"/>
                  </a:solidFill>
                  <a:latin typeface="Canva Sans"/>
                  <a:ea typeface="Canva Sans"/>
                  <a:cs typeface="Canva Sans"/>
                  <a:sym typeface="Canva Sans"/>
                </a:rPr>
                <a:t>Researchers &amp; Developers</a:t>
              </a:r>
            </a:p>
          </p:txBody>
        </p:sp>
      </p:grpSp>
      <p:sp>
        <p:nvSpPr>
          <p:cNvPr id="34" name="Freeform 34"/>
          <p:cNvSpPr/>
          <p:nvPr/>
        </p:nvSpPr>
        <p:spPr>
          <a:xfrm>
            <a:off x="13668729" y="6534007"/>
            <a:ext cx="2196814" cy="2188826"/>
          </a:xfrm>
          <a:custGeom>
            <a:avLst/>
            <a:gdLst/>
            <a:ahLst/>
            <a:cxnLst/>
            <a:rect l="l" t="t" r="r" b="b"/>
            <a:pathLst>
              <a:path w="2196814" h="2188826">
                <a:moveTo>
                  <a:pt x="0" y="0"/>
                </a:moveTo>
                <a:lnTo>
                  <a:pt x="2196814" y="0"/>
                </a:lnTo>
                <a:lnTo>
                  <a:pt x="2196814" y="2188826"/>
                </a:lnTo>
                <a:lnTo>
                  <a:pt x="0" y="2188826"/>
                </a:lnTo>
                <a:lnTo>
                  <a:pt x="0" y="0"/>
                </a:lnTo>
                <a:close/>
              </a:path>
            </a:pathLst>
          </a:custGeom>
          <a:blipFill>
            <a:blip r:embed="rId8"/>
            <a:stretch>
              <a:fillRect/>
            </a:stretch>
          </a:blipFill>
        </p:spPr>
      </p:sp>
      <p:sp>
        <p:nvSpPr>
          <p:cNvPr id="35" name="TextBox 35"/>
          <p:cNvSpPr txBox="1"/>
          <p:nvPr/>
        </p:nvSpPr>
        <p:spPr>
          <a:xfrm>
            <a:off x="12342330" y="9372600"/>
            <a:ext cx="4849613" cy="758190"/>
          </a:xfrm>
          <a:prstGeom prst="rect">
            <a:avLst/>
          </a:prstGeom>
        </p:spPr>
        <p:txBody>
          <a:bodyPr lIns="0" tIns="0" rIns="0" bIns="0" rtlCol="0" anchor="t">
            <a:spAutoFit/>
          </a:bodyPr>
          <a:lstStyle/>
          <a:p>
            <a:pPr algn="just">
              <a:lnSpc>
                <a:spcPts val="3149"/>
              </a:lnSpc>
            </a:pPr>
            <a:r>
              <a:rPr lang="en-US" sz="2099" b="1">
                <a:solidFill>
                  <a:srgbClr val="171A18"/>
                </a:solidFill>
                <a:latin typeface="Canva Sans Bold"/>
                <a:ea typeface="Canva Sans Bold"/>
                <a:cs typeface="Canva Sans Bold"/>
                <a:sym typeface="Canva Sans Bold"/>
              </a:rPr>
              <a:t>Benefit from better price predictions and crop availability information.</a:t>
            </a:r>
          </a:p>
        </p:txBody>
      </p:sp>
      <p:sp>
        <p:nvSpPr>
          <p:cNvPr id="36" name="TextBox 36"/>
          <p:cNvSpPr txBox="1"/>
          <p:nvPr/>
        </p:nvSpPr>
        <p:spPr>
          <a:xfrm>
            <a:off x="1096057" y="9404494"/>
            <a:ext cx="4442914" cy="758190"/>
          </a:xfrm>
          <a:prstGeom prst="rect">
            <a:avLst/>
          </a:prstGeom>
        </p:spPr>
        <p:txBody>
          <a:bodyPr lIns="0" tIns="0" rIns="0" bIns="0" rtlCol="0" anchor="t">
            <a:spAutoFit/>
          </a:bodyPr>
          <a:lstStyle/>
          <a:p>
            <a:pPr algn="just">
              <a:lnSpc>
                <a:spcPts val="3149"/>
              </a:lnSpc>
            </a:pPr>
            <a:r>
              <a:rPr lang="en-US" sz="2099" b="1">
                <a:solidFill>
                  <a:srgbClr val="171A18"/>
                </a:solidFill>
                <a:latin typeface="Canva Sans Bold"/>
                <a:ea typeface="Canva Sans Bold"/>
                <a:cs typeface="Canva Sans Bold"/>
                <a:sym typeface="Canva Sans Bold"/>
              </a:rPr>
              <a:t>Use insights for supply chain, fertilizers, and seed distribution.</a:t>
            </a:r>
          </a:p>
        </p:txBody>
      </p:sp>
      <p:sp>
        <p:nvSpPr>
          <p:cNvPr id="37" name="TextBox 37"/>
          <p:cNvSpPr txBox="1"/>
          <p:nvPr/>
        </p:nvSpPr>
        <p:spPr>
          <a:xfrm>
            <a:off x="6664882" y="9404494"/>
            <a:ext cx="4442914" cy="758190"/>
          </a:xfrm>
          <a:prstGeom prst="rect">
            <a:avLst/>
          </a:prstGeom>
        </p:spPr>
        <p:txBody>
          <a:bodyPr lIns="0" tIns="0" rIns="0" bIns="0" rtlCol="0" anchor="t">
            <a:spAutoFit/>
          </a:bodyPr>
          <a:lstStyle/>
          <a:p>
            <a:pPr algn="just">
              <a:lnSpc>
                <a:spcPts val="3149"/>
              </a:lnSpc>
            </a:pPr>
            <a:r>
              <a:rPr lang="en-US" sz="2099" b="1">
                <a:solidFill>
                  <a:srgbClr val="171A18"/>
                </a:solidFill>
                <a:latin typeface="Canva Sans Bold"/>
                <a:ea typeface="Canva Sans Bold"/>
                <a:cs typeface="Canva Sans Bold"/>
                <a:sym typeface="Canva Sans Bold"/>
              </a:rPr>
              <a:t>Design, improve, and maintain the AI models and system.</a:t>
            </a:r>
          </a:p>
        </p:txBody>
      </p:sp>
      <p:sp>
        <p:nvSpPr>
          <p:cNvPr id="38" name="TextBox 38"/>
          <p:cNvSpPr txBox="1"/>
          <p:nvPr/>
        </p:nvSpPr>
        <p:spPr>
          <a:xfrm>
            <a:off x="1438495" y="4867132"/>
            <a:ext cx="3725210" cy="1466850"/>
          </a:xfrm>
          <a:prstGeom prst="rect">
            <a:avLst/>
          </a:prstGeom>
        </p:spPr>
        <p:txBody>
          <a:bodyPr lIns="0" tIns="0" rIns="0" bIns="0" rtlCol="0" anchor="t">
            <a:spAutoFit/>
          </a:bodyPr>
          <a:lstStyle/>
          <a:p>
            <a:pPr algn="just">
              <a:lnSpc>
                <a:spcPts val="2999"/>
              </a:lnSpc>
            </a:pPr>
            <a:r>
              <a:rPr lang="en-US" sz="1999" b="1">
                <a:solidFill>
                  <a:srgbClr val="171A18"/>
                </a:solidFill>
                <a:latin typeface="Canva Sans Bold"/>
                <a:ea typeface="Canva Sans Bold"/>
                <a:cs typeface="Canva Sans Bold"/>
                <a:sym typeface="Canva Sans Bold"/>
              </a:rPr>
              <a:t>Primary users who benefit from crop recommendations, disease detection, and market insights.</a:t>
            </a:r>
          </a:p>
        </p:txBody>
      </p:sp>
      <p:sp>
        <p:nvSpPr>
          <p:cNvPr id="39" name="TextBox 39"/>
          <p:cNvSpPr txBox="1"/>
          <p:nvPr/>
        </p:nvSpPr>
        <p:spPr>
          <a:xfrm>
            <a:off x="7104211" y="4867132"/>
            <a:ext cx="3820904" cy="1095375"/>
          </a:xfrm>
          <a:prstGeom prst="rect">
            <a:avLst/>
          </a:prstGeom>
        </p:spPr>
        <p:txBody>
          <a:bodyPr lIns="0" tIns="0" rIns="0" bIns="0" rtlCol="0" anchor="t">
            <a:spAutoFit/>
          </a:bodyPr>
          <a:lstStyle/>
          <a:p>
            <a:pPr algn="just">
              <a:lnSpc>
                <a:spcPts val="2999"/>
              </a:lnSpc>
            </a:pPr>
            <a:r>
              <a:rPr lang="en-US" sz="1999" b="1">
                <a:solidFill>
                  <a:srgbClr val="171A18"/>
                </a:solidFill>
                <a:latin typeface="Canva Sans Bold"/>
                <a:ea typeface="Canva Sans Bold"/>
                <a:cs typeface="Canva Sans Bold"/>
                <a:sym typeface="Canva Sans Bold"/>
              </a:rPr>
              <a:t>Provide knowledge, validation, and guidance for accurate recommendations.</a:t>
            </a:r>
          </a:p>
        </p:txBody>
      </p:sp>
      <p:sp>
        <p:nvSpPr>
          <p:cNvPr id="40" name="TextBox 40"/>
          <p:cNvSpPr txBox="1"/>
          <p:nvPr/>
        </p:nvSpPr>
        <p:spPr>
          <a:xfrm>
            <a:off x="12406591" y="4867132"/>
            <a:ext cx="4442914" cy="1095375"/>
          </a:xfrm>
          <a:prstGeom prst="rect">
            <a:avLst/>
          </a:prstGeom>
        </p:spPr>
        <p:txBody>
          <a:bodyPr lIns="0" tIns="0" rIns="0" bIns="0" rtlCol="0" anchor="t">
            <a:spAutoFit/>
          </a:bodyPr>
          <a:lstStyle/>
          <a:p>
            <a:pPr algn="just">
              <a:lnSpc>
                <a:spcPts val="2999"/>
              </a:lnSpc>
            </a:pPr>
            <a:r>
              <a:rPr lang="en-US" sz="1999" b="1">
                <a:solidFill>
                  <a:srgbClr val="171A18"/>
                </a:solidFill>
                <a:latin typeface="Canva Sans Bold"/>
                <a:ea typeface="Canva Sans Bold"/>
                <a:cs typeface="Canva Sans Bold"/>
                <a:sym typeface="Canva Sans Bold"/>
              </a:rPr>
              <a:t>Support implementation through agricultural policies and digital initiatives.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788294"/>
            <a:ext cx="18288000" cy="498706"/>
            <a:chOff x="0" y="0"/>
            <a:chExt cx="4816593" cy="131346"/>
          </a:xfrm>
        </p:grpSpPr>
        <p:sp>
          <p:nvSpPr>
            <p:cNvPr id="3" name="Freeform 3"/>
            <p:cNvSpPr/>
            <p:nvPr/>
          </p:nvSpPr>
          <p:spPr>
            <a:xfrm>
              <a:off x="0" y="0"/>
              <a:ext cx="4816592" cy="131346"/>
            </a:xfrm>
            <a:custGeom>
              <a:avLst/>
              <a:gdLst/>
              <a:ahLst/>
              <a:cxnLst/>
              <a:rect l="l" t="t" r="r" b="b"/>
              <a:pathLst>
                <a:path w="4816592" h="131346">
                  <a:moveTo>
                    <a:pt x="0" y="0"/>
                  </a:moveTo>
                  <a:lnTo>
                    <a:pt x="4816592" y="0"/>
                  </a:lnTo>
                  <a:lnTo>
                    <a:pt x="4816592" y="131346"/>
                  </a:lnTo>
                  <a:lnTo>
                    <a:pt x="0" y="131346"/>
                  </a:lnTo>
                  <a:close/>
                </a:path>
              </a:pathLst>
            </a:custGeom>
            <a:solidFill>
              <a:srgbClr val="377328"/>
            </a:solidFill>
          </p:spPr>
        </p:sp>
        <p:sp>
          <p:nvSpPr>
            <p:cNvPr id="4" name="TextBox 4"/>
            <p:cNvSpPr txBox="1"/>
            <p:nvPr/>
          </p:nvSpPr>
          <p:spPr>
            <a:xfrm>
              <a:off x="0" y="-38100"/>
              <a:ext cx="4816593" cy="16944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8238371" y="4880342"/>
            <a:ext cx="1583687" cy="1583687"/>
          </a:xfrm>
          <a:custGeom>
            <a:avLst/>
            <a:gdLst/>
            <a:ahLst/>
            <a:cxnLst/>
            <a:rect l="l" t="t" r="r" b="b"/>
            <a:pathLst>
              <a:path w="1583687" h="1583687">
                <a:moveTo>
                  <a:pt x="0" y="0"/>
                </a:moveTo>
                <a:lnTo>
                  <a:pt x="1583687" y="0"/>
                </a:lnTo>
                <a:lnTo>
                  <a:pt x="1583687" y="1583687"/>
                </a:lnTo>
                <a:lnTo>
                  <a:pt x="0" y="158368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1028700" y="55537"/>
            <a:ext cx="16230600" cy="2347957"/>
          </a:xfrm>
          <a:prstGeom prst="rect">
            <a:avLst/>
          </a:prstGeom>
        </p:spPr>
        <p:txBody>
          <a:bodyPr lIns="0" tIns="0" rIns="0" bIns="0" rtlCol="0" anchor="t">
            <a:spAutoFit/>
          </a:bodyPr>
          <a:lstStyle/>
          <a:p>
            <a:pPr algn="ctr">
              <a:lnSpc>
                <a:spcPts val="9185"/>
              </a:lnSpc>
              <a:spcBef>
                <a:spcPct val="0"/>
              </a:spcBef>
            </a:pPr>
            <a:r>
              <a:rPr lang="en-US" sz="6560" b="1" spc="-288">
                <a:solidFill>
                  <a:srgbClr val="377328"/>
                </a:solidFill>
                <a:latin typeface="Telegraf Bold"/>
                <a:ea typeface="Telegraf Bold"/>
                <a:cs typeface="Telegraf Bold"/>
                <a:sym typeface="Telegraf Bold"/>
              </a:rPr>
              <a:t>Programming Languages, Tools, and Software</a:t>
            </a:r>
          </a:p>
        </p:txBody>
      </p:sp>
      <p:grpSp>
        <p:nvGrpSpPr>
          <p:cNvPr id="7" name="Group 7"/>
          <p:cNvGrpSpPr/>
          <p:nvPr/>
        </p:nvGrpSpPr>
        <p:grpSpPr>
          <a:xfrm>
            <a:off x="1028700" y="2999706"/>
            <a:ext cx="6931237" cy="6152264"/>
            <a:chOff x="0" y="0"/>
            <a:chExt cx="9241649" cy="8203018"/>
          </a:xfrm>
        </p:grpSpPr>
        <p:sp>
          <p:nvSpPr>
            <p:cNvPr id="8" name="TextBox 8"/>
            <p:cNvSpPr txBox="1"/>
            <p:nvPr/>
          </p:nvSpPr>
          <p:spPr>
            <a:xfrm>
              <a:off x="0" y="-76200"/>
              <a:ext cx="9241649" cy="3683001"/>
            </a:xfrm>
            <a:prstGeom prst="rect">
              <a:avLst/>
            </a:prstGeom>
          </p:spPr>
          <p:txBody>
            <a:bodyPr lIns="0" tIns="0" rIns="0" bIns="0" rtlCol="0" anchor="t">
              <a:spAutoFit/>
            </a:bodyPr>
            <a:lstStyle/>
            <a:p>
              <a:pPr algn="just">
                <a:lnSpc>
                  <a:spcPts val="3749"/>
                </a:lnSpc>
              </a:pPr>
              <a:r>
                <a:rPr lang="en-US" sz="2499" b="1">
                  <a:solidFill>
                    <a:srgbClr val="171A18"/>
                  </a:solidFill>
                  <a:latin typeface="Canva Sans Bold"/>
                  <a:ea typeface="Canva Sans Bold"/>
                  <a:cs typeface="Canva Sans Bold"/>
                  <a:sym typeface="Canva Sans Bold"/>
                </a:rPr>
                <a:t>Programming Languages:</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Python (for machine learning and backend development)</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JavaScript (for frontend development)</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HTML &amp; CSS (for designing user interface)</a:t>
              </a:r>
            </a:p>
            <a:p>
              <a:pPr algn="just">
                <a:lnSpc>
                  <a:spcPts val="3749"/>
                </a:lnSpc>
              </a:pPr>
              <a:endParaRPr lang="en-US" sz="2499">
                <a:solidFill>
                  <a:srgbClr val="171A18"/>
                </a:solidFill>
                <a:latin typeface="Canva Sans"/>
                <a:ea typeface="Canva Sans"/>
                <a:cs typeface="Canva Sans"/>
                <a:sym typeface="Canva Sans"/>
              </a:endParaRPr>
            </a:p>
          </p:txBody>
        </p:sp>
        <p:sp>
          <p:nvSpPr>
            <p:cNvPr id="9" name="TextBox 9"/>
            <p:cNvSpPr txBox="1"/>
            <p:nvPr/>
          </p:nvSpPr>
          <p:spPr>
            <a:xfrm>
              <a:off x="0" y="3275417"/>
              <a:ext cx="9241649" cy="4927601"/>
            </a:xfrm>
            <a:prstGeom prst="rect">
              <a:avLst/>
            </a:prstGeom>
          </p:spPr>
          <p:txBody>
            <a:bodyPr lIns="0" tIns="0" rIns="0" bIns="0" rtlCol="0" anchor="t">
              <a:spAutoFit/>
            </a:bodyPr>
            <a:lstStyle/>
            <a:p>
              <a:pPr algn="just">
                <a:lnSpc>
                  <a:spcPts val="3749"/>
                </a:lnSpc>
              </a:pPr>
              <a:r>
                <a:rPr lang="en-US" sz="2499" b="1">
                  <a:solidFill>
                    <a:srgbClr val="171A18"/>
                  </a:solidFill>
                  <a:latin typeface="Canva Sans Bold"/>
                  <a:ea typeface="Canva Sans Bold"/>
                  <a:cs typeface="Canva Sans Bold"/>
                  <a:sym typeface="Canva Sans Bold"/>
                </a:rPr>
                <a:t>Frameworks &amp; Libraries:</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React.js (frontend development)</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Flask (backend development)</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TensorFlow / Keras (for building ML models)</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Scikit-learn (for data analysis and prediction)</a:t>
              </a:r>
            </a:p>
            <a:p>
              <a:pPr algn="just">
                <a:lnSpc>
                  <a:spcPts val="3749"/>
                </a:lnSpc>
              </a:pPr>
              <a:endParaRPr lang="en-US" sz="2499">
                <a:solidFill>
                  <a:srgbClr val="171A18"/>
                </a:solidFill>
                <a:latin typeface="Canva Sans"/>
                <a:ea typeface="Canva Sans"/>
                <a:cs typeface="Canva Sans"/>
                <a:sym typeface="Canva Sans"/>
              </a:endParaRPr>
            </a:p>
          </p:txBody>
        </p:sp>
      </p:grpSp>
      <p:grpSp>
        <p:nvGrpSpPr>
          <p:cNvPr id="10" name="Group 10"/>
          <p:cNvGrpSpPr/>
          <p:nvPr/>
        </p:nvGrpSpPr>
        <p:grpSpPr>
          <a:xfrm>
            <a:off x="10100492" y="2999706"/>
            <a:ext cx="7809183" cy="5871276"/>
            <a:chOff x="0" y="0"/>
            <a:chExt cx="10412245" cy="7828369"/>
          </a:xfrm>
        </p:grpSpPr>
        <p:sp>
          <p:nvSpPr>
            <p:cNvPr id="11" name="TextBox 11"/>
            <p:cNvSpPr txBox="1"/>
            <p:nvPr/>
          </p:nvSpPr>
          <p:spPr>
            <a:xfrm>
              <a:off x="0" y="-76200"/>
              <a:ext cx="10412245" cy="3683001"/>
            </a:xfrm>
            <a:prstGeom prst="rect">
              <a:avLst/>
            </a:prstGeom>
          </p:spPr>
          <p:txBody>
            <a:bodyPr lIns="0" tIns="0" rIns="0" bIns="0" rtlCol="0" anchor="t">
              <a:spAutoFit/>
            </a:bodyPr>
            <a:lstStyle/>
            <a:p>
              <a:pPr algn="just">
                <a:lnSpc>
                  <a:spcPts val="3749"/>
                </a:lnSpc>
              </a:pPr>
              <a:r>
                <a:rPr lang="en-US" sz="2499" b="1">
                  <a:solidFill>
                    <a:srgbClr val="171A18"/>
                  </a:solidFill>
                  <a:latin typeface="Canva Sans Bold"/>
                  <a:ea typeface="Canva Sans Bold"/>
                  <a:cs typeface="Canva Sans Bold"/>
                  <a:sym typeface="Canva Sans Bold"/>
                </a:rPr>
                <a:t>Tools &amp; Software:</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VS Code (code editor)</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Jupyter Notebook (model training and testing)</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Git &amp; GitHub (version control)</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Postman (API testing)</a:t>
              </a:r>
            </a:p>
            <a:p>
              <a:pPr algn="just">
                <a:lnSpc>
                  <a:spcPts val="3749"/>
                </a:lnSpc>
              </a:pPr>
              <a:endParaRPr lang="en-US" sz="2499">
                <a:solidFill>
                  <a:srgbClr val="171A18"/>
                </a:solidFill>
                <a:latin typeface="Canva Sans"/>
                <a:ea typeface="Canva Sans"/>
                <a:cs typeface="Canva Sans"/>
                <a:sym typeface="Canva Sans"/>
              </a:endParaRPr>
            </a:p>
          </p:txBody>
        </p:sp>
        <p:sp>
          <p:nvSpPr>
            <p:cNvPr id="12" name="TextBox 12"/>
            <p:cNvSpPr txBox="1"/>
            <p:nvPr/>
          </p:nvSpPr>
          <p:spPr>
            <a:xfrm>
              <a:off x="0" y="3275417"/>
              <a:ext cx="10127317" cy="2438401"/>
            </a:xfrm>
            <a:prstGeom prst="rect">
              <a:avLst/>
            </a:prstGeom>
          </p:spPr>
          <p:txBody>
            <a:bodyPr lIns="0" tIns="0" rIns="0" bIns="0" rtlCol="0" anchor="t">
              <a:spAutoFit/>
            </a:bodyPr>
            <a:lstStyle/>
            <a:p>
              <a:pPr algn="just">
                <a:lnSpc>
                  <a:spcPts val="3749"/>
                </a:lnSpc>
              </a:pPr>
              <a:r>
                <a:rPr lang="en-US" sz="2499" b="1">
                  <a:solidFill>
                    <a:srgbClr val="171A18"/>
                  </a:solidFill>
                  <a:latin typeface="Canva Sans Bold"/>
                  <a:ea typeface="Canva Sans Bold"/>
                  <a:cs typeface="Canva Sans Bold"/>
                  <a:sym typeface="Canva Sans Bold"/>
                </a:rPr>
                <a:t>Database:</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MongoDB / Firebase (for storing user and application data)</a:t>
              </a:r>
            </a:p>
            <a:p>
              <a:pPr algn="just">
                <a:lnSpc>
                  <a:spcPts val="3749"/>
                </a:lnSpc>
              </a:pPr>
              <a:endParaRPr lang="en-US" sz="2499">
                <a:solidFill>
                  <a:srgbClr val="171A18"/>
                </a:solidFill>
                <a:latin typeface="Canva Sans"/>
                <a:ea typeface="Canva Sans"/>
                <a:cs typeface="Canva Sans"/>
                <a:sym typeface="Canva Sans"/>
              </a:endParaRPr>
            </a:p>
          </p:txBody>
        </p:sp>
        <p:sp>
          <p:nvSpPr>
            <p:cNvPr id="13" name="TextBox 13"/>
            <p:cNvSpPr txBox="1"/>
            <p:nvPr/>
          </p:nvSpPr>
          <p:spPr>
            <a:xfrm>
              <a:off x="0" y="5389968"/>
              <a:ext cx="10412245" cy="2438401"/>
            </a:xfrm>
            <a:prstGeom prst="rect">
              <a:avLst/>
            </a:prstGeom>
          </p:spPr>
          <p:txBody>
            <a:bodyPr lIns="0" tIns="0" rIns="0" bIns="0" rtlCol="0" anchor="t">
              <a:spAutoFit/>
            </a:bodyPr>
            <a:lstStyle/>
            <a:p>
              <a:pPr algn="just">
                <a:lnSpc>
                  <a:spcPts val="3749"/>
                </a:lnSpc>
              </a:pPr>
              <a:r>
                <a:rPr lang="en-US" sz="2499" b="1">
                  <a:solidFill>
                    <a:srgbClr val="171A18"/>
                  </a:solidFill>
                  <a:latin typeface="Canva Sans Bold"/>
                  <a:ea typeface="Canva Sans Bold"/>
                  <a:cs typeface="Canva Sans Bold"/>
                  <a:sym typeface="Canva Sans Bold"/>
                </a:rPr>
                <a:t>APIs &amp; Services:</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Weather API (for real-time weather updates)</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Market Data API (for crop price information)</a:t>
              </a:r>
            </a:p>
            <a:p>
              <a:pPr algn="just">
                <a:lnSpc>
                  <a:spcPts val="3749"/>
                </a:lnSpc>
              </a:pPr>
              <a:endParaRPr lang="en-US" sz="2499">
                <a:solidFill>
                  <a:srgbClr val="171A18"/>
                </a:solidFill>
                <a:latin typeface="Canva Sans"/>
                <a:ea typeface="Canva Sans"/>
                <a:cs typeface="Canva Sans"/>
                <a:sym typeface="Canva Sans"/>
              </a:endParaRPr>
            </a:p>
          </p:txBody>
        </p:sp>
      </p:grpSp>
      <p:grpSp>
        <p:nvGrpSpPr>
          <p:cNvPr id="14" name="Group 14"/>
          <p:cNvGrpSpPr/>
          <p:nvPr/>
        </p:nvGrpSpPr>
        <p:grpSpPr>
          <a:xfrm>
            <a:off x="15260077" y="9788294"/>
            <a:ext cx="3483887" cy="534277"/>
            <a:chOff x="0" y="0"/>
            <a:chExt cx="917567" cy="140715"/>
          </a:xfrm>
        </p:grpSpPr>
        <p:sp>
          <p:nvSpPr>
            <p:cNvPr id="15" name="Freeform 15"/>
            <p:cNvSpPr/>
            <p:nvPr/>
          </p:nvSpPr>
          <p:spPr>
            <a:xfrm>
              <a:off x="0" y="0"/>
              <a:ext cx="917567" cy="140715"/>
            </a:xfrm>
            <a:custGeom>
              <a:avLst/>
              <a:gdLst/>
              <a:ahLst/>
              <a:cxnLst/>
              <a:rect l="l" t="t" r="r" b="b"/>
              <a:pathLst>
                <a:path w="917567" h="140715">
                  <a:moveTo>
                    <a:pt x="0" y="0"/>
                  </a:moveTo>
                  <a:lnTo>
                    <a:pt x="917567" y="0"/>
                  </a:lnTo>
                  <a:lnTo>
                    <a:pt x="917567" y="140715"/>
                  </a:lnTo>
                  <a:lnTo>
                    <a:pt x="0" y="140715"/>
                  </a:lnTo>
                  <a:close/>
                </a:path>
              </a:pathLst>
            </a:custGeom>
            <a:solidFill>
              <a:srgbClr val="C5E7B0"/>
            </a:solidFill>
          </p:spPr>
        </p:sp>
        <p:sp>
          <p:nvSpPr>
            <p:cNvPr id="16" name="TextBox 16"/>
            <p:cNvSpPr txBox="1"/>
            <p:nvPr/>
          </p:nvSpPr>
          <p:spPr>
            <a:xfrm>
              <a:off x="0" y="-38100"/>
              <a:ext cx="917567" cy="17881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602963" y="0"/>
            <a:ext cx="876228" cy="1398637"/>
            <a:chOff x="0" y="0"/>
            <a:chExt cx="230776" cy="368365"/>
          </a:xfrm>
        </p:grpSpPr>
        <p:sp>
          <p:nvSpPr>
            <p:cNvPr id="3" name="Freeform 3"/>
            <p:cNvSpPr/>
            <p:nvPr/>
          </p:nvSpPr>
          <p:spPr>
            <a:xfrm>
              <a:off x="0" y="0"/>
              <a:ext cx="230776" cy="368365"/>
            </a:xfrm>
            <a:custGeom>
              <a:avLst/>
              <a:gdLst/>
              <a:ahLst/>
              <a:cxnLst/>
              <a:rect l="l" t="t" r="r" b="b"/>
              <a:pathLst>
                <a:path w="230776" h="368365">
                  <a:moveTo>
                    <a:pt x="0" y="0"/>
                  </a:moveTo>
                  <a:lnTo>
                    <a:pt x="230776" y="0"/>
                  </a:lnTo>
                  <a:lnTo>
                    <a:pt x="230776" y="368365"/>
                  </a:lnTo>
                  <a:lnTo>
                    <a:pt x="0" y="368365"/>
                  </a:lnTo>
                  <a:close/>
                </a:path>
              </a:pathLst>
            </a:custGeom>
            <a:solidFill>
              <a:srgbClr val="C5E7B0"/>
            </a:solidFill>
          </p:spPr>
        </p:sp>
        <p:sp>
          <p:nvSpPr>
            <p:cNvPr id="4" name="TextBox 4"/>
            <p:cNvSpPr txBox="1"/>
            <p:nvPr/>
          </p:nvSpPr>
          <p:spPr>
            <a:xfrm>
              <a:off x="0" y="-38100"/>
              <a:ext cx="230776" cy="40646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602963" y="1398637"/>
            <a:ext cx="777435" cy="10386262"/>
            <a:chOff x="0" y="0"/>
            <a:chExt cx="204757" cy="2735477"/>
          </a:xfrm>
        </p:grpSpPr>
        <p:sp>
          <p:nvSpPr>
            <p:cNvPr id="6" name="Freeform 6"/>
            <p:cNvSpPr/>
            <p:nvPr/>
          </p:nvSpPr>
          <p:spPr>
            <a:xfrm>
              <a:off x="0" y="0"/>
              <a:ext cx="204757" cy="2735476"/>
            </a:xfrm>
            <a:custGeom>
              <a:avLst/>
              <a:gdLst/>
              <a:ahLst/>
              <a:cxnLst/>
              <a:rect l="l" t="t" r="r" b="b"/>
              <a:pathLst>
                <a:path w="204757" h="2735476">
                  <a:moveTo>
                    <a:pt x="0" y="0"/>
                  </a:moveTo>
                  <a:lnTo>
                    <a:pt x="204757" y="0"/>
                  </a:lnTo>
                  <a:lnTo>
                    <a:pt x="204757" y="2735476"/>
                  </a:lnTo>
                  <a:lnTo>
                    <a:pt x="0" y="2735476"/>
                  </a:lnTo>
                  <a:close/>
                </a:path>
              </a:pathLst>
            </a:custGeom>
            <a:solidFill>
              <a:srgbClr val="377328"/>
            </a:solidFill>
          </p:spPr>
        </p:sp>
        <p:sp>
          <p:nvSpPr>
            <p:cNvPr id="7" name="TextBox 7"/>
            <p:cNvSpPr txBox="1"/>
            <p:nvPr/>
          </p:nvSpPr>
          <p:spPr>
            <a:xfrm>
              <a:off x="0" y="-38100"/>
              <a:ext cx="204757" cy="2773577"/>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6380363" y="545076"/>
            <a:ext cx="878937" cy="800632"/>
          </a:xfrm>
          <a:custGeom>
            <a:avLst/>
            <a:gdLst/>
            <a:ahLst/>
            <a:cxnLst/>
            <a:rect l="l" t="t" r="r" b="b"/>
            <a:pathLst>
              <a:path w="878937" h="800632">
                <a:moveTo>
                  <a:pt x="0" y="0"/>
                </a:moveTo>
                <a:lnTo>
                  <a:pt x="878937" y="0"/>
                </a:lnTo>
                <a:lnTo>
                  <a:pt x="878937" y="800632"/>
                </a:lnTo>
                <a:lnTo>
                  <a:pt x="0" y="80063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2967602" y="1630082"/>
            <a:ext cx="12352795" cy="6485218"/>
          </a:xfrm>
          <a:custGeom>
            <a:avLst/>
            <a:gdLst/>
            <a:ahLst/>
            <a:cxnLst/>
            <a:rect l="l" t="t" r="r" b="b"/>
            <a:pathLst>
              <a:path w="12352795" h="6485218">
                <a:moveTo>
                  <a:pt x="0" y="0"/>
                </a:moveTo>
                <a:lnTo>
                  <a:pt x="12352796" y="0"/>
                </a:lnTo>
                <a:lnTo>
                  <a:pt x="12352796" y="6485218"/>
                </a:lnTo>
                <a:lnTo>
                  <a:pt x="0" y="6485218"/>
                </a:lnTo>
                <a:lnTo>
                  <a:pt x="0" y="0"/>
                </a:lnTo>
                <a:close/>
              </a:path>
            </a:pathLst>
          </a:custGeom>
          <a:blipFill>
            <a:blip r:embed="rId3"/>
            <a:stretch>
              <a:fillRect/>
            </a:stretch>
          </a:blipFill>
        </p:spPr>
      </p:sp>
      <p:sp>
        <p:nvSpPr>
          <p:cNvPr id="10" name="TextBox 10"/>
          <p:cNvSpPr txBox="1"/>
          <p:nvPr/>
        </p:nvSpPr>
        <p:spPr>
          <a:xfrm>
            <a:off x="750108" y="496600"/>
            <a:ext cx="15973919" cy="1021410"/>
          </a:xfrm>
          <a:prstGeom prst="rect">
            <a:avLst/>
          </a:prstGeom>
        </p:spPr>
        <p:txBody>
          <a:bodyPr lIns="0" tIns="0" rIns="0" bIns="0" rtlCol="0" anchor="t">
            <a:spAutoFit/>
          </a:bodyPr>
          <a:lstStyle/>
          <a:p>
            <a:pPr algn="l">
              <a:lnSpc>
                <a:spcPts val="6957"/>
              </a:lnSpc>
            </a:pPr>
            <a:r>
              <a:rPr lang="en-US" sz="7562" b="1" spc="-506">
                <a:solidFill>
                  <a:srgbClr val="377328"/>
                </a:solidFill>
                <a:latin typeface="Telegraf Bold"/>
                <a:ea typeface="Telegraf Bold"/>
                <a:cs typeface="Telegraf Bold"/>
                <a:sym typeface="Telegraf Bold"/>
              </a:rPr>
              <a:t>Complete Code Generation Prompts </a:t>
            </a:r>
          </a:p>
        </p:txBody>
      </p:sp>
      <p:sp>
        <p:nvSpPr>
          <p:cNvPr id="11" name="TextBox 11"/>
          <p:cNvSpPr txBox="1"/>
          <p:nvPr/>
        </p:nvSpPr>
        <p:spPr>
          <a:xfrm>
            <a:off x="750108" y="8604885"/>
            <a:ext cx="16509192" cy="1240154"/>
          </a:xfrm>
          <a:prstGeom prst="rect">
            <a:avLst/>
          </a:prstGeom>
        </p:spPr>
        <p:txBody>
          <a:bodyPr lIns="0" tIns="0" rIns="0" bIns="0" rtlCol="0" anchor="t">
            <a:spAutoFit/>
          </a:bodyPr>
          <a:lstStyle/>
          <a:p>
            <a:pPr algn="ctr">
              <a:lnSpc>
                <a:spcPts val="3300"/>
              </a:lnSpc>
            </a:pPr>
            <a:r>
              <a:rPr lang="en-US" sz="2200" b="1">
                <a:solidFill>
                  <a:srgbClr val="377328"/>
                </a:solidFill>
                <a:latin typeface="Canva Sans Bold"/>
                <a:ea typeface="Canva Sans Bold"/>
                <a:cs typeface="Canva Sans Bold"/>
                <a:sym typeface="Canva Sans Bold"/>
              </a:rPr>
              <a:t>Create a full-stack project structure for an AI farming assistant using React for the frontend and Flask for the backend. Also, set up a basic React login and signup page with routing and authentication. The project should be like industry level with professional styling and interface </a:t>
            </a:r>
          </a:p>
        </p:txBody>
      </p:sp>
      <p:sp>
        <p:nvSpPr>
          <p:cNvPr id="12" name="TextBox 12"/>
          <p:cNvSpPr txBox="1"/>
          <p:nvPr/>
        </p:nvSpPr>
        <p:spPr>
          <a:xfrm>
            <a:off x="14542565" y="7708582"/>
            <a:ext cx="2716735" cy="699136"/>
          </a:xfrm>
          <a:prstGeom prst="rect">
            <a:avLst/>
          </a:prstGeom>
        </p:spPr>
        <p:txBody>
          <a:bodyPr lIns="0" tIns="0" rIns="0" bIns="0" rtlCol="0" anchor="t">
            <a:spAutoFit/>
          </a:bodyPr>
          <a:lstStyle/>
          <a:p>
            <a:pPr algn="ctr">
              <a:lnSpc>
                <a:spcPts val="5849"/>
              </a:lnSpc>
            </a:pPr>
            <a:r>
              <a:rPr lang="en-US" sz="3899" b="1">
                <a:solidFill>
                  <a:srgbClr val="171A18"/>
                </a:solidFill>
                <a:latin typeface="Canva Sans Bold"/>
                <a:ea typeface="Canva Sans Bold"/>
                <a:cs typeface="Canva Sans Bold"/>
                <a:sym typeface="Canva Sans Bold"/>
              </a:rPr>
              <a:t>Prompt 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8793" y="0"/>
            <a:ext cx="876228" cy="1398637"/>
            <a:chOff x="0" y="0"/>
            <a:chExt cx="230776" cy="368365"/>
          </a:xfrm>
        </p:grpSpPr>
        <p:sp>
          <p:nvSpPr>
            <p:cNvPr id="3" name="Freeform 3"/>
            <p:cNvSpPr/>
            <p:nvPr/>
          </p:nvSpPr>
          <p:spPr>
            <a:xfrm>
              <a:off x="0" y="0"/>
              <a:ext cx="230776" cy="368365"/>
            </a:xfrm>
            <a:custGeom>
              <a:avLst/>
              <a:gdLst/>
              <a:ahLst/>
              <a:cxnLst/>
              <a:rect l="l" t="t" r="r" b="b"/>
              <a:pathLst>
                <a:path w="230776" h="368365">
                  <a:moveTo>
                    <a:pt x="0" y="0"/>
                  </a:moveTo>
                  <a:lnTo>
                    <a:pt x="230776" y="0"/>
                  </a:lnTo>
                  <a:lnTo>
                    <a:pt x="230776" y="368365"/>
                  </a:lnTo>
                  <a:lnTo>
                    <a:pt x="0" y="368365"/>
                  </a:lnTo>
                  <a:close/>
                </a:path>
              </a:pathLst>
            </a:custGeom>
            <a:solidFill>
              <a:srgbClr val="C5E7B0"/>
            </a:solidFill>
          </p:spPr>
        </p:sp>
        <p:sp>
          <p:nvSpPr>
            <p:cNvPr id="4" name="TextBox 4"/>
            <p:cNvSpPr txBox="1"/>
            <p:nvPr/>
          </p:nvSpPr>
          <p:spPr>
            <a:xfrm>
              <a:off x="0" y="-38100"/>
              <a:ext cx="230776" cy="40646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1398637"/>
            <a:ext cx="777435" cy="10386262"/>
            <a:chOff x="0" y="0"/>
            <a:chExt cx="204757" cy="2735477"/>
          </a:xfrm>
        </p:grpSpPr>
        <p:sp>
          <p:nvSpPr>
            <p:cNvPr id="6" name="Freeform 6"/>
            <p:cNvSpPr/>
            <p:nvPr/>
          </p:nvSpPr>
          <p:spPr>
            <a:xfrm>
              <a:off x="0" y="0"/>
              <a:ext cx="204757" cy="2735476"/>
            </a:xfrm>
            <a:custGeom>
              <a:avLst/>
              <a:gdLst/>
              <a:ahLst/>
              <a:cxnLst/>
              <a:rect l="l" t="t" r="r" b="b"/>
              <a:pathLst>
                <a:path w="204757" h="2735476">
                  <a:moveTo>
                    <a:pt x="0" y="0"/>
                  </a:moveTo>
                  <a:lnTo>
                    <a:pt x="204757" y="0"/>
                  </a:lnTo>
                  <a:lnTo>
                    <a:pt x="204757" y="2735476"/>
                  </a:lnTo>
                  <a:lnTo>
                    <a:pt x="0" y="2735476"/>
                  </a:lnTo>
                  <a:close/>
                </a:path>
              </a:pathLst>
            </a:custGeom>
            <a:solidFill>
              <a:srgbClr val="377328"/>
            </a:solidFill>
          </p:spPr>
        </p:sp>
        <p:sp>
          <p:nvSpPr>
            <p:cNvPr id="7" name="TextBox 7"/>
            <p:cNvSpPr txBox="1"/>
            <p:nvPr/>
          </p:nvSpPr>
          <p:spPr>
            <a:xfrm>
              <a:off x="0" y="-38100"/>
              <a:ext cx="204757" cy="2773577"/>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2191387" y="777385"/>
            <a:ext cx="13905226" cy="6778798"/>
          </a:xfrm>
          <a:custGeom>
            <a:avLst/>
            <a:gdLst/>
            <a:ahLst/>
            <a:cxnLst/>
            <a:rect l="l" t="t" r="r" b="b"/>
            <a:pathLst>
              <a:path w="13905226" h="6778798">
                <a:moveTo>
                  <a:pt x="0" y="0"/>
                </a:moveTo>
                <a:lnTo>
                  <a:pt x="13905226" y="0"/>
                </a:lnTo>
                <a:lnTo>
                  <a:pt x="13905226" y="6778797"/>
                </a:lnTo>
                <a:lnTo>
                  <a:pt x="0" y="6778797"/>
                </a:lnTo>
                <a:lnTo>
                  <a:pt x="0" y="0"/>
                </a:lnTo>
                <a:close/>
              </a:path>
            </a:pathLst>
          </a:custGeom>
          <a:blipFill>
            <a:blip r:embed="rId2"/>
            <a:stretch>
              <a:fillRect/>
            </a:stretch>
          </a:blipFill>
        </p:spPr>
      </p:sp>
      <p:sp>
        <p:nvSpPr>
          <p:cNvPr id="9" name="TextBox 9"/>
          <p:cNvSpPr txBox="1"/>
          <p:nvPr/>
        </p:nvSpPr>
        <p:spPr>
          <a:xfrm>
            <a:off x="1231829" y="8604885"/>
            <a:ext cx="16509192" cy="1240154"/>
          </a:xfrm>
          <a:prstGeom prst="rect">
            <a:avLst/>
          </a:prstGeom>
        </p:spPr>
        <p:txBody>
          <a:bodyPr lIns="0" tIns="0" rIns="0" bIns="0" rtlCol="0" anchor="t">
            <a:spAutoFit/>
          </a:bodyPr>
          <a:lstStyle/>
          <a:p>
            <a:pPr algn="ctr">
              <a:lnSpc>
                <a:spcPts val="3300"/>
              </a:lnSpc>
            </a:pPr>
            <a:r>
              <a:rPr lang="en-US" sz="2200" b="1">
                <a:solidFill>
                  <a:srgbClr val="377328"/>
                </a:solidFill>
                <a:latin typeface="Canva Sans Bold"/>
                <a:ea typeface="Canva Sans Bold"/>
                <a:cs typeface="Canva Sans Bold"/>
                <a:sym typeface="Canva Sans Bold"/>
              </a:rPr>
              <a:t>"Build a CNN model using TensorFlow/Keras to detect crop diseases from leaf images. Write Python code to preprocess images and train the model. Create a Flask API to upload an image and return disease prediction, using Google Colab for model training."</a:t>
            </a:r>
          </a:p>
        </p:txBody>
      </p:sp>
      <p:sp>
        <p:nvSpPr>
          <p:cNvPr id="10" name="TextBox 10"/>
          <p:cNvSpPr txBox="1"/>
          <p:nvPr/>
        </p:nvSpPr>
        <p:spPr>
          <a:xfrm>
            <a:off x="14542565" y="7708582"/>
            <a:ext cx="2716735" cy="699136"/>
          </a:xfrm>
          <a:prstGeom prst="rect">
            <a:avLst/>
          </a:prstGeom>
        </p:spPr>
        <p:txBody>
          <a:bodyPr lIns="0" tIns="0" rIns="0" bIns="0" rtlCol="0" anchor="t">
            <a:spAutoFit/>
          </a:bodyPr>
          <a:lstStyle/>
          <a:p>
            <a:pPr algn="ctr">
              <a:lnSpc>
                <a:spcPts val="5849"/>
              </a:lnSpc>
            </a:pPr>
            <a:r>
              <a:rPr lang="en-US" sz="3899" b="1">
                <a:solidFill>
                  <a:srgbClr val="171A18"/>
                </a:solidFill>
                <a:latin typeface="Canva Sans Bold"/>
                <a:ea typeface="Canva Sans Bold"/>
                <a:cs typeface="Canva Sans Bold"/>
                <a:sym typeface="Canva Sans Bold"/>
              </a:rPr>
              <a:t>Prompt 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8793" y="0"/>
            <a:ext cx="876228" cy="1398637"/>
            <a:chOff x="0" y="0"/>
            <a:chExt cx="230776" cy="368365"/>
          </a:xfrm>
        </p:grpSpPr>
        <p:sp>
          <p:nvSpPr>
            <p:cNvPr id="3" name="Freeform 3"/>
            <p:cNvSpPr/>
            <p:nvPr/>
          </p:nvSpPr>
          <p:spPr>
            <a:xfrm>
              <a:off x="0" y="0"/>
              <a:ext cx="230776" cy="368365"/>
            </a:xfrm>
            <a:custGeom>
              <a:avLst/>
              <a:gdLst/>
              <a:ahLst/>
              <a:cxnLst/>
              <a:rect l="l" t="t" r="r" b="b"/>
              <a:pathLst>
                <a:path w="230776" h="368365">
                  <a:moveTo>
                    <a:pt x="0" y="0"/>
                  </a:moveTo>
                  <a:lnTo>
                    <a:pt x="230776" y="0"/>
                  </a:lnTo>
                  <a:lnTo>
                    <a:pt x="230776" y="368365"/>
                  </a:lnTo>
                  <a:lnTo>
                    <a:pt x="0" y="368365"/>
                  </a:lnTo>
                  <a:close/>
                </a:path>
              </a:pathLst>
            </a:custGeom>
            <a:solidFill>
              <a:srgbClr val="C5E7B0"/>
            </a:solidFill>
          </p:spPr>
        </p:sp>
        <p:sp>
          <p:nvSpPr>
            <p:cNvPr id="4" name="TextBox 4"/>
            <p:cNvSpPr txBox="1"/>
            <p:nvPr/>
          </p:nvSpPr>
          <p:spPr>
            <a:xfrm>
              <a:off x="0" y="-38100"/>
              <a:ext cx="230776" cy="40646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1398637"/>
            <a:ext cx="777435" cy="10386262"/>
            <a:chOff x="0" y="0"/>
            <a:chExt cx="204757" cy="2735477"/>
          </a:xfrm>
        </p:grpSpPr>
        <p:sp>
          <p:nvSpPr>
            <p:cNvPr id="6" name="Freeform 6"/>
            <p:cNvSpPr/>
            <p:nvPr/>
          </p:nvSpPr>
          <p:spPr>
            <a:xfrm>
              <a:off x="0" y="0"/>
              <a:ext cx="204757" cy="2735476"/>
            </a:xfrm>
            <a:custGeom>
              <a:avLst/>
              <a:gdLst/>
              <a:ahLst/>
              <a:cxnLst/>
              <a:rect l="l" t="t" r="r" b="b"/>
              <a:pathLst>
                <a:path w="204757" h="2735476">
                  <a:moveTo>
                    <a:pt x="0" y="0"/>
                  </a:moveTo>
                  <a:lnTo>
                    <a:pt x="204757" y="0"/>
                  </a:lnTo>
                  <a:lnTo>
                    <a:pt x="204757" y="2735476"/>
                  </a:lnTo>
                  <a:lnTo>
                    <a:pt x="0" y="2735476"/>
                  </a:lnTo>
                  <a:close/>
                </a:path>
              </a:pathLst>
            </a:custGeom>
            <a:solidFill>
              <a:srgbClr val="377328"/>
            </a:solidFill>
          </p:spPr>
        </p:sp>
        <p:sp>
          <p:nvSpPr>
            <p:cNvPr id="7" name="TextBox 7"/>
            <p:cNvSpPr txBox="1"/>
            <p:nvPr/>
          </p:nvSpPr>
          <p:spPr>
            <a:xfrm>
              <a:off x="0" y="-38100"/>
              <a:ext cx="204757" cy="2773577"/>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774115" y="519399"/>
            <a:ext cx="14739771" cy="7498858"/>
          </a:xfrm>
          <a:custGeom>
            <a:avLst/>
            <a:gdLst/>
            <a:ahLst/>
            <a:cxnLst/>
            <a:rect l="l" t="t" r="r" b="b"/>
            <a:pathLst>
              <a:path w="14739771" h="7498858">
                <a:moveTo>
                  <a:pt x="0" y="0"/>
                </a:moveTo>
                <a:lnTo>
                  <a:pt x="14739770" y="0"/>
                </a:lnTo>
                <a:lnTo>
                  <a:pt x="14739770" y="7498859"/>
                </a:lnTo>
                <a:lnTo>
                  <a:pt x="0" y="7498859"/>
                </a:lnTo>
                <a:lnTo>
                  <a:pt x="0" y="0"/>
                </a:lnTo>
                <a:close/>
              </a:path>
            </a:pathLst>
          </a:custGeom>
          <a:blipFill>
            <a:blip r:embed="rId2"/>
            <a:stretch>
              <a:fillRect/>
            </a:stretch>
          </a:blipFill>
        </p:spPr>
      </p:sp>
      <p:sp>
        <p:nvSpPr>
          <p:cNvPr id="9" name="TextBox 9"/>
          <p:cNvSpPr txBox="1"/>
          <p:nvPr/>
        </p:nvSpPr>
        <p:spPr>
          <a:xfrm>
            <a:off x="1231829" y="8604885"/>
            <a:ext cx="16509192" cy="1659254"/>
          </a:xfrm>
          <a:prstGeom prst="rect">
            <a:avLst/>
          </a:prstGeom>
        </p:spPr>
        <p:txBody>
          <a:bodyPr lIns="0" tIns="0" rIns="0" bIns="0" rtlCol="0" anchor="t">
            <a:spAutoFit/>
          </a:bodyPr>
          <a:lstStyle/>
          <a:p>
            <a:pPr algn="ctr">
              <a:lnSpc>
                <a:spcPts val="3300"/>
              </a:lnSpc>
            </a:pPr>
            <a:r>
              <a:rPr lang="en-US" sz="2200" b="1">
                <a:solidFill>
                  <a:srgbClr val="377328"/>
                </a:solidFill>
                <a:latin typeface="Canva Sans Bold"/>
                <a:ea typeface="Canva Sans Bold"/>
                <a:cs typeface="Canva Sans Bold"/>
                <a:sym typeface="Canva Sans Bold"/>
              </a:rPr>
              <a:t>Create a React component to upload images and display prediction results. Connect the React frontend with the Flask backend using Axios. Integrate a weather API to fetch real-time weather data. Display temperature, humidity, and rainfall in the React dashboard. Design a MongoDB database schema to store user data and history. Implement CRUD operations using Flask.</a:t>
            </a:r>
          </a:p>
        </p:txBody>
      </p:sp>
      <p:sp>
        <p:nvSpPr>
          <p:cNvPr id="10" name="TextBox 10"/>
          <p:cNvSpPr txBox="1"/>
          <p:nvPr/>
        </p:nvSpPr>
        <p:spPr>
          <a:xfrm>
            <a:off x="14542565" y="7708582"/>
            <a:ext cx="2716735" cy="699136"/>
          </a:xfrm>
          <a:prstGeom prst="rect">
            <a:avLst/>
          </a:prstGeom>
        </p:spPr>
        <p:txBody>
          <a:bodyPr lIns="0" tIns="0" rIns="0" bIns="0" rtlCol="0" anchor="t">
            <a:spAutoFit/>
          </a:bodyPr>
          <a:lstStyle/>
          <a:p>
            <a:pPr algn="ctr">
              <a:lnSpc>
                <a:spcPts val="5849"/>
              </a:lnSpc>
            </a:pPr>
            <a:r>
              <a:rPr lang="en-US" sz="3899" b="1">
                <a:solidFill>
                  <a:srgbClr val="171A18"/>
                </a:solidFill>
                <a:latin typeface="Canva Sans Bold"/>
                <a:ea typeface="Canva Sans Bold"/>
                <a:cs typeface="Canva Sans Bold"/>
                <a:sym typeface="Canva Sans Bold"/>
              </a:rPr>
              <a:t>Prompt 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537614"/>
            <a:chOff x="0" y="0"/>
            <a:chExt cx="4816593" cy="141594"/>
          </a:xfrm>
        </p:grpSpPr>
        <p:sp>
          <p:nvSpPr>
            <p:cNvPr id="3" name="Freeform 3"/>
            <p:cNvSpPr/>
            <p:nvPr/>
          </p:nvSpPr>
          <p:spPr>
            <a:xfrm>
              <a:off x="0" y="0"/>
              <a:ext cx="4816592" cy="141594"/>
            </a:xfrm>
            <a:custGeom>
              <a:avLst/>
              <a:gdLst/>
              <a:ahLst/>
              <a:cxnLst/>
              <a:rect l="l" t="t" r="r" b="b"/>
              <a:pathLst>
                <a:path w="4816592" h="141594">
                  <a:moveTo>
                    <a:pt x="0" y="0"/>
                  </a:moveTo>
                  <a:lnTo>
                    <a:pt x="4816592" y="0"/>
                  </a:lnTo>
                  <a:lnTo>
                    <a:pt x="4816592" y="141594"/>
                  </a:lnTo>
                  <a:lnTo>
                    <a:pt x="0" y="141594"/>
                  </a:lnTo>
                  <a:close/>
                </a:path>
              </a:pathLst>
            </a:custGeom>
            <a:solidFill>
              <a:srgbClr val="377328"/>
            </a:solidFill>
          </p:spPr>
        </p:sp>
        <p:sp>
          <p:nvSpPr>
            <p:cNvPr id="4" name="TextBox 4"/>
            <p:cNvSpPr txBox="1"/>
            <p:nvPr/>
          </p:nvSpPr>
          <p:spPr>
            <a:xfrm>
              <a:off x="0" y="-38100"/>
              <a:ext cx="4816593" cy="17969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42334" y="3336"/>
            <a:ext cx="3483887" cy="534277"/>
            <a:chOff x="0" y="0"/>
            <a:chExt cx="917567" cy="140715"/>
          </a:xfrm>
        </p:grpSpPr>
        <p:sp>
          <p:nvSpPr>
            <p:cNvPr id="6" name="Freeform 6"/>
            <p:cNvSpPr/>
            <p:nvPr/>
          </p:nvSpPr>
          <p:spPr>
            <a:xfrm>
              <a:off x="0" y="0"/>
              <a:ext cx="917567" cy="140715"/>
            </a:xfrm>
            <a:custGeom>
              <a:avLst/>
              <a:gdLst/>
              <a:ahLst/>
              <a:cxnLst/>
              <a:rect l="l" t="t" r="r" b="b"/>
              <a:pathLst>
                <a:path w="917567" h="140715">
                  <a:moveTo>
                    <a:pt x="0" y="0"/>
                  </a:moveTo>
                  <a:lnTo>
                    <a:pt x="917567" y="0"/>
                  </a:lnTo>
                  <a:lnTo>
                    <a:pt x="917567" y="140715"/>
                  </a:lnTo>
                  <a:lnTo>
                    <a:pt x="0" y="140715"/>
                  </a:lnTo>
                  <a:close/>
                </a:path>
              </a:pathLst>
            </a:custGeom>
            <a:solidFill>
              <a:srgbClr val="C5E7B0"/>
            </a:solidFill>
          </p:spPr>
        </p:sp>
        <p:sp>
          <p:nvSpPr>
            <p:cNvPr id="7" name="TextBox 7"/>
            <p:cNvSpPr txBox="1"/>
            <p:nvPr/>
          </p:nvSpPr>
          <p:spPr>
            <a:xfrm>
              <a:off x="0" y="-38100"/>
              <a:ext cx="917567" cy="17881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37071" y="740444"/>
            <a:ext cx="16413858" cy="1428729"/>
            <a:chOff x="0" y="0"/>
            <a:chExt cx="21885144" cy="1904972"/>
          </a:xfrm>
        </p:grpSpPr>
        <p:sp>
          <p:nvSpPr>
            <p:cNvPr id="9" name="TextBox 9"/>
            <p:cNvSpPr txBox="1"/>
            <p:nvPr/>
          </p:nvSpPr>
          <p:spPr>
            <a:xfrm>
              <a:off x="0" y="-276225"/>
              <a:ext cx="20428810" cy="2181197"/>
            </a:xfrm>
            <a:prstGeom prst="rect">
              <a:avLst/>
            </a:prstGeom>
          </p:spPr>
          <p:txBody>
            <a:bodyPr lIns="0" tIns="0" rIns="0" bIns="0" rtlCol="0" anchor="t">
              <a:spAutoFit/>
            </a:bodyPr>
            <a:lstStyle/>
            <a:p>
              <a:pPr algn="ctr">
                <a:lnSpc>
                  <a:spcPts val="13126"/>
                </a:lnSpc>
                <a:spcBef>
                  <a:spcPct val="0"/>
                </a:spcBef>
              </a:pPr>
              <a:r>
                <a:rPr lang="en-US" sz="9375" b="1" spc="-412">
                  <a:solidFill>
                    <a:srgbClr val="377328"/>
                  </a:solidFill>
                  <a:latin typeface="Telegraf Bold"/>
                  <a:ea typeface="Telegraf Bold"/>
                  <a:cs typeface="Telegraf Bold"/>
                  <a:sym typeface="Telegraf Bold"/>
                </a:rPr>
                <a:t>Flowchart of the Workflow</a:t>
              </a:r>
            </a:p>
          </p:txBody>
        </p:sp>
        <p:sp>
          <p:nvSpPr>
            <p:cNvPr id="10" name="Freeform 10"/>
            <p:cNvSpPr/>
            <p:nvPr/>
          </p:nvSpPr>
          <p:spPr>
            <a:xfrm>
              <a:off x="20428810" y="124240"/>
              <a:ext cx="1456334" cy="1459247"/>
            </a:xfrm>
            <a:custGeom>
              <a:avLst/>
              <a:gdLst/>
              <a:ahLst/>
              <a:cxnLst/>
              <a:rect l="l" t="t" r="r" b="b"/>
              <a:pathLst>
                <a:path w="1456334" h="1459247">
                  <a:moveTo>
                    <a:pt x="0" y="0"/>
                  </a:moveTo>
                  <a:lnTo>
                    <a:pt x="1456334" y="0"/>
                  </a:lnTo>
                  <a:lnTo>
                    <a:pt x="1456334" y="1459247"/>
                  </a:lnTo>
                  <a:lnTo>
                    <a:pt x="0" y="1459247"/>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sp>
        <p:nvSpPr>
          <p:cNvPr id="11" name="Freeform 11"/>
          <p:cNvSpPr/>
          <p:nvPr/>
        </p:nvSpPr>
        <p:spPr>
          <a:xfrm>
            <a:off x="1515290" y="2169173"/>
            <a:ext cx="15257420" cy="8008027"/>
          </a:xfrm>
          <a:custGeom>
            <a:avLst/>
            <a:gdLst/>
            <a:ahLst/>
            <a:cxnLst/>
            <a:rect l="l" t="t" r="r" b="b"/>
            <a:pathLst>
              <a:path w="15257420" h="8008027">
                <a:moveTo>
                  <a:pt x="0" y="0"/>
                </a:moveTo>
                <a:lnTo>
                  <a:pt x="15257420" y="0"/>
                </a:lnTo>
                <a:lnTo>
                  <a:pt x="15257420" y="8008026"/>
                </a:lnTo>
                <a:lnTo>
                  <a:pt x="0" y="8008026"/>
                </a:lnTo>
                <a:lnTo>
                  <a:pt x="0" y="0"/>
                </a:lnTo>
                <a:close/>
              </a:path>
            </a:pathLst>
          </a:custGeom>
          <a:blipFill>
            <a:blip r:embed="rId3"/>
            <a:stretch>
              <a:fillRect t="-6456"/>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537614"/>
            <a:chOff x="0" y="0"/>
            <a:chExt cx="4816593" cy="141594"/>
          </a:xfrm>
        </p:grpSpPr>
        <p:sp>
          <p:nvSpPr>
            <p:cNvPr id="3" name="Freeform 3"/>
            <p:cNvSpPr/>
            <p:nvPr/>
          </p:nvSpPr>
          <p:spPr>
            <a:xfrm>
              <a:off x="0" y="0"/>
              <a:ext cx="4816592" cy="141594"/>
            </a:xfrm>
            <a:custGeom>
              <a:avLst/>
              <a:gdLst/>
              <a:ahLst/>
              <a:cxnLst/>
              <a:rect l="l" t="t" r="r" b="b"/>
              <a:pathLst>
                <a:path w="4816592" h="141594">
                  <a:moveTo>
                    <a:pt x="0" y="0"/>
                  </a:moveTo>
                  <a:lnTo>
                    <a:pt x="4816592" y="0"/>
                  </a:lnTo>
                  <a:lnTo>
                    <a:pt x="4816592" y="141594"/>
                  </a:lnTo>
                  <a:lnTo>
                    <a:pt x="0" y="141594"/>
                  </a:lnTo>
                  <a:close/>
                </a:path>
              </a:pathLst>
            </a:custGeom>
            <a:solidFill>
              <a:srgbClr val="377328"/>
            </a:solidFill>
          </p:spPr>
        </p:sp>
        <p:sp>
          <p:nvSpPr>
            <p:cNvPr id="4" name="TextBox 4"/>
            <p:cNvSpPr txBox="1"/>
            <p:nvPr/>
          </p:nvSpPr>
          <p:spPr>
            <a:xfrm>
              <a:off x="0" y="-38100"/>
              <a:ext cx="4816593" cy="17969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42334" y="3336"/>
            <a:ext cx="3483887" cy="534277"/>
            <a:chOff x="0" y="0"/>
            <a:chExt cx="917567" cy="140715"/>
          </a:xfrm>
        </p:grpSpPr>
        <p:sp>
          <p:nvSpPr>
            <p:cNvPr id="6" name="Freeform 6"/>
            <p:cNvSpPr/>
            <p:nvPr/>
          </p:nvSpPr>
          <p:spPr>
            <a:xfrm>
              <a:off x="0" y="0"/>
              <a:ext cx="917567" cy="140715"/>
            </a:xfrm>
            <a:custGeom>
              <a:avLst/>
              <a:gdLst/>
              <a:ahLst/>
              <a:cxnLst/>
              <a:rect l="l" t="t" r="r" b="b"/>
              <a:pathLst>
                <a:path w="917567" h="140715">
                  <a:moveTo>
                    <a:pt x="0" y="0"/>
                  </a:moveTo>
                  <a:lnTo>
                    <a:pt x="917567" y="0"/>
                  </a:lnTo>
                  <a:lnTo>
                    <a:pt x="917567" y="140715"/>
                  </a:lnTo>
                  <a:lnTo>
                    <a:pt x="0" y="140715"/>
                  </a:lnTo>
                  <a:close/>
                </a:path>
              </a:pathLst>
            </a:custGeom>
            <a:solidFill>
              <a:srgbClr val="C5E7B0"/>
            </a:solidFill>
          </p:spPr>
        </p:sp>
        <p:sp>
          <p:nvSpPr>
            <p:cNvPr id="7" name="TextBox 7"/>
            <p:cNvSpPr txBox="1"/>
            <p:nvPr/>
          </p:nvSpPr>
          <p:spPr>
            <a:xfrm>
              <a:off x="0" y="-38100"/>
              <a:ext cx="917567" cy="17881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767737" y="555808"/>
            <a:ext cx="16752525" cy="1592888"/>
            <a:chOff x="0" y="0"/>
            <a:chExt cx="22336701" cy="2123851"/>
          </a:xfrm>
        </p:grpSpPr>
        <p:sp>
          <p:nvSpPr>
            <p:cNvPr id="9" name="Freeform 9"/>
            <p:cNvSpPr/>
            <p:nvPr/>
          </p:nvSpPr>
          <p:spPr>
            <a:xfrm>
              <a:off x="20212850" y="0"/>
              <a:ext cx="2123851" cy="2123851"/>
            </a:xfrm>
            <a:custGeom>
              <a:avLst/>
              <a:gdLst/>
              <a:ahLst/>
              <a:cxnLst/>
              <a:rect l="l" t="t" r="r" b="b"/>
              <a:pathLst>
                <a:path w="2123851" h="2123851">
                  <a:moveTo>
                    <a:pt x="0" y="0"/>
                  </a:moveTo>
                  <a:lnTo>
                    <a:pt x="2123851" y="0"/>
                  </a:lnTo>
                  <a:lnTo>
                    <a:pt x="2123851" y="2123851"/>
                  </a:lnTo>
                  <a:lnTo>
                    <a:pt x="0" y="2123851"/>
                  </a:lnTo>
                  <a:lnTo>
                    <a:pt x="0" y="0"/>
                  </a:lnTo>
                  <a:close/>
                </a:path>
              </a:pathLst>
            </a:custGeom>
            <a:blipFill>
              <a:blip r:embed="rId2"/>
              <a:stretch>
                <a:fillRect/>
              </a:stretch>
            </a:blipFill>
          </p:spPr>
        </p:sp>
        <p:sp>
          <p:nvSpPr>
            <p:cNvPr id="10" name="TextBox 10"/>
            <p:cNvSpPr txBox="1"/>
            <p:nvPr/>
          </p:nvSpPr>
          <p:spPr>
            <a:xfrm>
              <a:off x="0" y="8056"/>
              <a:ext cx="20428810" cy="1869613"/>
            </a:xfrm>
            <a:prstGeom prst="rect">
              <a:avLst/>
            </a:prstGeom>
          </p:spPr>
          <p:txBody>
            <a:bodyPr lIns="0" tIns="0" rIns="0" bIns="0" rtlCol="0" anchor="t">
              <a:spAutoFit/>
            </a:bodyPr>
            <a:lstStyle/>
            <a:p>
              <a:pPr algn="ctr">
                <a:lnSpc>
                  <a:spcPts val="11306"/>
                </a:lnSpc>
                <a:spcBef>
                  <a:spcPct val="0"/>
                </a:spcBef>
              </a:pPr>
              <a:r>
                <a:rPr lang="en-US" sz="8076" b="1" spc="-355">
                  <a:solidFill>
                    <a:srgbClr val="377328"/>
                  </a:solidFill>
                  <a:latin typeface="Telegraf Bold"/>
                  <a:ea typeface="Telegraf Bold"/>
                  <a:cs typeface="Telegraf Bold"/>
                  <a:sym typeface="Telegraf Bold"/>
                </a:rPr>
                <a:t>Front-end view  web application </a:t>
              </a:r>
            </a:p>
          </p:txBody>
        </p:sp>
      </p:grpSp>
      <p:sp>
        <p:nvSpPr>
          <p:cNvPr id="11" name="Freeform 11"/>
          <p:cNvSpPr/>
          <p:nvPr/>
        </p:nvSpPr>
        <p:spPr>
          <a:xfrm>
            <a:off x="515220" y="2049596"/>
            <a:ext cx="17257561" cy="8003194"/>
          </a:xfrm>
          <a:custGeom>
            <a:avLst/>
            <a:gdLst/>
            <a:ahLst/>
            <a:cxnLst/>
            <a:rect l="l" t="t" r="r" b="b"/>
            <a:pathLst>
              <a:path w="17257561" h="8003194">
                <a:moveTo>
                  <a:pt x="0" y="0"/>
                </a:moveTo>
                <a:lnTo>
                  <a:pt x="17257560" y="0"/>
                </a:lnTo>
                <a:lnTo>
                  <a:pt x="17257560" y="8003194"/>
                </a:lnTo>
                <a:lnTo>
                  <a:pt x="0" y="8003194"/>
                </a:lnTo>
                <a:lnTo>
                  <a:pt x="0" y="0"/>
                </a:lnTo>
                <a:close/>
              </a:path>
            </a:pathLst>
          </a:custGeom>
          <a:blipFill>
            <a:blip r:embed="rId3"/>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537614"/>
            <a:chOff x="0" y="0"/>
            <a:chExt cx="4816593" cy="141594"/>
          </a:xfrm>
        </p:grpSpPr>
        <p:sp>
          <p:nvSpPr>
            <p:cNvPr id="3" name="Freeform 3"/>
            <p:cNvSpPr/>
            <p:nvPr/>
          </p:nvSpPr>
          <p:spPr>
            <a:xfrm>
              <a:off x="0" y="0"/>
              <a:ext cx="4816592" cy="141594"/>
            </a:xfrm>
            <a:custGeom>
              <a:avLst/>
              <a:gdLst/>
              <a:ahLst/>
              <a:cxnLst/>
              <a:rect l="l" t="t" r="r" b="b"/>
              <a:pathLst>
                <a:path w="4816592" h="141594">
                  <a:moveTo>
                    <a:pt x="0" y="0"/>
                  </a:moveTo>
                  <a:lnTo>
                    <a:pt x="4816592" y="0"/>
                  </a:lnTo>
                  <a:lnTo>
                    <a:pt x="4816592" y="141594"/>
                  </a:lnTo>
                  <a:lnTo>
                    <a:pt x="0" y="141594"/>
                  </a:lnTo>
                  <a:close/>
                </a:path>
              </a:pathLst>
            </a:custGeom>
            <a:solidFill>
              <a:srgbClr val="377328"/>
            </a:solidFill>
          </p:spPr>
        </p:sp>
        <p:sp>
          <p:nvSpPr>
            <p:cNvPr id="4" name="TextBox 4"/>
            <p:cNvSpPr txBox="1"/>
            <p:nvPr/>
          </p:nvSpPr>
          <p:spPr>
            <a:xfrm>
              <a:off x="0" y="-38100"/>
              <a:ext cx="4816593" cy="17969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42334" y="3336"/>
            <a:ext cx="3483887" cy="534277"/>
            <a:chOff x="0" y="0"/>
            <a:chExt cx="917567" cy="140715"/>
          </a:xfrm>
        </p:grpSpPr>
        <p:sp>
          <p:nvSpPr>
            <p:cNvPr id="6" name="Freeform 6"/>
            <p:cNvSpPr/>
            <p:nvPr/>
          </p:nvSpPr>
          <p:spPr>
            <a:xfrm>
              <a:off x="0" y="0"/>
              <a:ext cx="917567" cy="140715"/>
            </a:xfrm>
            <a:custGeom>
              <a:avLst/>
              <a:gdLst/>
              <a:ahLst/>
              <a:cxnLst/>
              <a:rect l="l" t="t" r="r" b="b"/>
              <a:pathLst>
                <a:path w="917567" h="140715">
                  <a:moveTo>
                    <a:pt x="0" y="0"/>
                  </a:moveTo>
                  <a:lnTo>
                    <a:pt x="917567" y="0"/>
                  </a:lnTo>
                  <a:lnTo>
                    <a:pt x="917567" y="140715"/>
                  </a:lnTo>
                  <a:lnTo>
                    <a:pt x="0" y="140715"/>
                  </a:lnTo>
                  <a:close/>
                </a:path>
              </a:pathLst>
            </a:custGeom>
            <a:solidFill>
              <a:srgbClr val="C5E7B0"/>
            </a:solidFill>
          </p:spPr>
        </p:sp>
        <p:sp>
          <p:nvSpPr>
            <p:cNvPr id="7" name="TextBox 7"/>
            <p:cNvSpPr txBox="1"/>
            <p:nvPr/>
          </p:nvSpPr>
          <p:spPr>
            <a:xfrm>
              <a:off x="0" y="-38100"/>
              <a:ext cx="917567" cy="178815"/>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9335214" y="2396876"/>
            <a:ext cx="8233002" cy="5917470"/>
          </a:xfrm>
          <a:custGeom>
            <a:avLst/>
            <a:gdLst/>
            <a:ahLst/>
            <a:cxnLst/>
            <a:rect l="l" t="t" r="r" b="b"/>
            <a:pathLst>
              <a:path w="8233002" h="5917470">
                <a:moveTo>
                  <a:pt x="0" y="0"/>
                </a:moveTo>
                <a:lnTo>
                  <a:pt x="8233002" y="0"/>
                </a:lnTo>
                <a:lnTo>
                  <a:pt x="8233002" y="5917471"/>
                </a:lnTo>
                <a:lnTo>
                  <a:pt x="0" y="5917471"/>
                </a:lnTo>
                <a:lnTo>
                  <a:pt x="0" y="0"/>
                </a:lnTo>
                <a:close/>
              </a:path>
            </a:pathLst>
          </a:custGeom>
          <a:blipFill>
            <a:blip r:embed="rId2"/>
            <a:stretch>
              <a:fillRect/>
            </a:stretch>
          </a:blipFill>
        </p:spPr>
      </p:sp>
      <p:sp>
        <p:nvSpPr>
          <p:cNvPr id="9" name="Freeform 9"/>
          <p:cNvSpPr/>
          <p:nvPr/>
        </p:nvSpPr>
        <p:spPr>
          <a:xfrm>
            <a:off x="591184" y="2396876"/>
            <a:ext cx="8552816" cy="5858679"/>
          </a:xfrm>
          <a:custGeom>
            <a:avLst/>
            <a:gdLst/>
            <a:ahLst/>
            <a:cxnLst/>
            <a:rect l="l" t="t" r="r" b="b"/>
            <a:pathLst>
              <a:path w="8552816" h="5858679">
                <a:moveTo>
                  <a:pt x="0" y="0"/>
                </a:moveTo>
                <a:lnTo>
                  <a:pt x="8552816" y="0"/>
                </a:lnTo>
                <a:lnTo>
                  <a:pt x="8552816" y="5858679"/>
                </a:lnTo>
                <a:lnTo>
                  <a:pt x="0" y="5858679"/>
                </a:lnTo>
                <a:lnTo>
                  <a:pt x="0" y="0"/>
                </a:lnTo>
                <a:close/>
              </a:path>
            </a:pathLst>
          </a:custGeom>
          <a:blipFill>
            <a:blip r:embed="rId3"/>
            <a:stretch>
              <a:fillRect/>
            </a:stretch>
          </a:blipFill>
        </p:spPr>
      </p:sp>
      <p:grpSp>
        <p:nvGrpSpPr>
          <p:cNvPr id="10" name="Group 10"/>
          <p:cNvGrpSpPr/>
          <p:nvPr/>
        </p:nvGrpSpPr>
        <p:grpSpPr>
          <a:xfrm>
            <a:off x="1077046" y="740444"/>
            <a:ext cx="16133908" cy="1044542"/>
            <a:chOff x="0" y="0"/>
            <a:chExt cx="21511877" cy="1392723"/>
          </a:xfrm>
        </p:grpSpPr>
        <p:sp>
          <p:nvSpPr>
            <p:cNvPr id="11" name="Freeform 11"/>
            <p:cNvSpPr/>
            <p:nvPr/>
          </p:nvSpPr>
          <p:spPr>
            <a:xfrm>
              <a:off x="19792014" y="164767"/>
              <a:ext cx="1719864" cy="1063188"/>
            </a:xfrm>
            <a:custGeom>
              <a:avLst/>
              <a:gdLst/>
              <a:ahLst/>
              <a:cxnLst/>
              <a:rect l="l" t="t" r="r" b="b"/>
              <a:pathLst>
                <a:path w="1719864" h="1063188">
                  <a:moveTo>
                    <a:pt x="0" y="0"/>
                  </a:moveTo>
                  <a:lnTo>
                    <a:pt x="1719863" y="0"/>
                  </a:lnTo>
                  <a:lnTo>
                    <a:pt x="1719863" y="1063189"/>
                  </a:lnTo>
                  <a:lnTo>
                    <a:pt x="0" y="1063189"/>
                  </a:lnTo>
                  <a:lnTo>
                    <a:pt x="0" y="0"/>
                  </a:lnTo>
                  <a:close/>
                </a:path>
              </a:pathLst>
            </a:custGeom>
            <a:blipFill>
              <a:blip r:embed="rId4"/>
              <a:stretch>
                <a:fillRect/>
              </a:stretch>
            </a:blipFill>
          </p:spPr>
        </p:sp>
        <p:sp>
          <p:nvSpPr>
            <p:cNvPr id="12" name="TextBox 12"/>
            <p:cNvSpPr txBox="1"/>
            <p:nvPr/>
          </p:nvSpPr>
          <p:spPr>
            <a:xfrm>
              <a:off x="0" y="-209550"/>
              <a:ext cx="20428810" cy="1602273"/>
            </a:xfrm>
            <a:prstGeom prst="rect">
              <a:avLst/>
            </a:prstGeom>
          </p:spPr>
          <p:txBody>
            <a:bodyPr lIns="0" tIns="0" rIns="0" bIns="0" rtlCol="0" anchor="t">
              <a:spAutoFit/>
            </a:bodyPr>
            <a:lstStyle/>
            <a:p>
              <a:pPr algn="ctr">
                <a:lnSpc>
                  <a:spcPts val="9626"/>
                </a:lnSpc>
                <a:spcBef>
                  <a:spcPct val="0"/>
                </a:spcBef>
              </a:pPr>
              <a:r>
                <a:rPr lang="en-US" sz="6876" b="1" spc="-302">
                  <a:solidFill>
                    <a:srgbClr val="377328"/>
                  </a:solidFill>
                  <a:latin typeface="Telegraf Bold"/>
                  <a:ea typeface="Telegraf Bold"/>
                  <a:cs typeface="Telegraf Bold"/>
                  <a:sym typeface="Telegraf Bold"/>
                </a:rPr>
                <a:t>Proof of Prompts generating codes </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537614"/>
            <a:chOff x="0" y="0"/>
            <a:chExt cx="4816593" cy="141594"/>
          </a:xfrm>
        </p:grpSpPr>
        <p:sp>
          <p:nvSpPr>
            <p:cNvPr id="3" name="Freeform 3"/>
            <p:cNvSpPr/>
            <p:nvPr/>
          </p:nvSpPr>
          <p:spPr>
            <a:xfrm>
              <a:off x="0" y="0"/>
              <a:ext cx="4816592" cy="141594"/>
            </a:xfrm>
            <a:custGeom>
              <a:avLst/>
              <a:gdLst/>
              <a:ahLst/>
              <a:cxnLst/>
              <a:rect l="l" t="t" r="r" b="b"/>
              <a:pathLst>
                <a:path w="4816592" h="141594">
                  <a:moveTo>
                    <a:pt x="0" y="0"/>
                  </a:moveTo>
                  <a:lnTo>
                    <a:pt x="4816592" y="0"/>
                  </a:lnTo>
                  <a:lnTo>
                    <a:pt x="4816592" y="141594"/>
                  </a:lnTo>
                  <a:lnTo>
                    <a:pt x="0" y="141594"/>
                  </a:lnTo>
                  <a:close/>
                </a:path>
              </a:pathLst>
            </a:custGeom>
            <a:solidFill>
              <a:srgbClr val="377328"/>
            </a:solidFill>
          </p:spPr>
        </p:sp>
        <p:sp>
          <p:nvSpPr>
            <p:cNvPr id="4" name="TextBox 4"/>
            <p:cNvSpPr txBox="1"/>
            <p:nvPr/>
          </p:nvSpPr>
          <p:spPr>
            <a:xfrm>
              <a:off x="0" y="-38100"/>
              <a:ext cx="4816593" cy="17969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42334" y="3336"/>
            <a:ext cx="3483887" cy="534277"/>
            <a:chOff x="0" y="0"/>
            <a:chExt cx="917567" cy="140715"/>
          </a:xfrm>
        </p:grpSpPr>
        <p:sp>
          <p:nvSpPr>
            <p:cNvPr id="6" name="Freeform 6"/>
            <p:cNvSpPr/>
            <p:nvPr/>
          </p:nvSpPr>
          <p:spPr>
            <a:xfrm>
              <a:off x="0" y="0"/>
              <a:ext cx="917567" cy="140715"/>
            </a:xfrm>
            <a:custGeom>
              <a:avLst/>
              <a:gdLst/>
              <a:ahLst/>
              <a:cxnLst/>
              <a:rect l="l" t="t" r="r" b="b"/>
              <a:pathLst>
                <a:path w="917567" h="140715">
                  <a:moveTo>
                    <a:pt x="0" y="0"/>
                  </a:moveTo>
                  <a:lnTo>
                    <a:pt x="917567" y="0"/>
                  </a:lnTo>
                  <a:lnTo>
                    <a:pt x="917567" y="140715"/>
                  </a:lnTo>
                  <a:lnTo>
                    <a:pt x="0" y="140715"/>
                  </a:lnTo>
                  <a:close/>
                </a:path>
              </a:pathLst>
            </a:custGeom>
            <a:solidFill>
              <a:srgbClr val="C5E7B0"/>
            </a:solidFill>
          </p:spPr>
        </p:sp>
        <p:sp>
          <p:nvSpPr>
            <p:cNvPr id="7" name="TextBox 7"/>
            <p:cNvSpPr txBox="1"/>
            <p:nvPr/>
          </p:nvSpPr>
          <p:spPr>
            <a:xfrm>
              <a:off x="0" y="-38100"/>
              <a:ext cx="917567" cy="17881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483196" y="723239"/>
            <a:ext cx="15321607" cy="1061747"/>
            <a:chOff x="0" y="0"/>
            <a:chExt cx="20428810" cy="1415663"/>
          </a:xfrm>
        </p:grpSpPr>
        <p:sp>
          <p:nvSpPr>
            <p:cNvPr id="9" name="Freeform 9"/>
            <p:cNvSpPr/>
            <p:nvPr/>
          </p:nvSpPr>
          <p:spPr>
            <a:xfrm>
              <a:off x="13798645" y="0"/>
              <a:ext cx="1244167" cy="1244167"/>
            </a:xfrm>
            <a:custGeom>
              <a:avLst/>
              <a:gdLst/>
              <a:ahLst/>
              <a:cxnLst/>
              <a:rect l="l" t="t" r="r" b="b"/>
              <a:pathLst>
                <a:path w="1244167" h="1244167">
                  <a:moveTo>
                    <a:pt x="0" y="0"/>
                  </a:moveTo>
                  <a:lnTo>
                    <a:pt x="1244167" y="0"/>
                  </a:lnTo>
                  <a:lnTo>
                    <a:pt x="1244167" y="1244167"/>
                  </a:lnTo>
                  <a:lnTo>
                    <a:pt x="0" y="124416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TextBox 10"/>
            <p:cNvSpPr txBox="1"/>
            <p:nvPr/>
          </p:nvSpPr>
          <p:spPr>
            <a:xfrm>
              <a:off x="0" y="-186610"/>
              <a:ext cx="20428810" cy="1602273"/>
            </a:xfrm>
            <a:prstGeom prst="rect">
              <a:avLst/>
            </a:prstGeom>
          </p:spPr>
          <p:txBody>
            <a:bodyPr lIns="0" tIns="0" rIns="0" bIns="0" rtlCol="0" anchor="t">
              <a:spAutoFit/>
            </a:bodyPr>
            <a:lstStyle/>
            <a:p>
              <a:pPr algn="ctr">
                <a:lnSpc>
                  <a:spcPts val="9626"/>
                </a:lnSpc>
                <a:spcBef>
                  <a:spcPct val="0"/>
                </a:spcBef>
              </a:pPr>
              <a:r>
                <a:rPr lang="en-US" sz="6876" b="1" spc="-302">
                  <a:solidFill>
                    <a:srgbClr val="377328"/>
                  </a:solidFill>
                  <a:latin typeface="Telegraf Bold"/>
                  <a:ea typeface="Telegraf Bold"/>
                  <a:cs typeface="Telegraf Bold"/>
                  <a:sym typeface="Telegraf Bold"/>
                </a:rPr>
                <a:t>References</a:t>
              </a:r>
            </a:p>
          </p:txBody>
        </p:sp>
      </p:grpSp>
      <p:grpSp>
        <p:nvGrpSpPr>
          <p:cNvPr id="11" name="Group 11"/>
          <p:cNvGrpSpPr/>
          <p:nvPr/>
        </p:nvGrpSpPr>
        <p:grpSpPr>
          <a:xfrm>
            <a:off x="13975352" y="7664316"/>
            <a:ext cx="3283948" cy="2361849"/>
            <a:chOff x="0" y="0"/>
            <a:chExt cx="4378598" cy="3149133"/>
          </a:xfrm>
        </p:grpSpPr>
        <p:sp>
          <p:nvSpPr>
            <p:cNvPr id="12" name="Freeform 12"/>
            <p:cNvSpPr/>
            <p:nvPr/>
          </p:nvSpPr>
          <p:spPr>
            <a:xfrm>
              <a:off x="0" y="0"/>
              <a:ext cx="1598459" cy="1598459"/>
            </a:xfrm>
            <a:custGeom>
              <a:avLst/>
              <a:gdLst/>
              <a:ahLst/>
              <a:cxnLst/>
              <a:rect l="l" t="t" r="r" b="b"/>
              <a:pathLst>
                <a:path w="1598459" h="1598459">
                  <a:moveTo>
                    <a:pt x="0" y="0"/>
                  </a:moveTo>
                  <a:lnTo>
                    <a:pt x="1598459" y="0"/>
                  </a:lnTo>
                  <a:lnTo>
                    <a:pt x="1598459" y="1598459"/>
                  </a:lnTo>
                  <a:lnTo>
                    <a:pt x="0" y="159845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3" name="Freeform 13"/>
            <p:cNvSpPr/>
            <p:nvPr/>
          </p:nvSpPr>
          <p:spPr>
            <a:xfrm>
              <a:off x="873576" y="1839759"/>
              <a:ext cx="2287116" cy="1309374"/>
            </a:xfrm>
            <a:custGeom>
              <a:avLst/>
              <a:gdLst/>
              <a:ahLst/>
              <a:cxnLst/>
              <a:rect l="l" t="t" r="r" b="b"/>
              <a:pathLst>
                <a:path w="2287116" h="1309374">
                  <a:moveTo>
                    <a:pt x="0" y="0"/>
                  </a:moveTo>
                  <a:lnTo>
                    <a:pt x="2287117" y="0"/>
                  </a:lnTo>
                  <a:lnTo>
                    <a:pt x="2287117" y="1309374"/>
                  </a:lnTo>
                  <a:lnTo>
                    <a:pt x="0" y="1309374"/>
                  </a:lnTo>
                  <a:lnTo>
                    <a:pt x="0" y="0"/>
                  </a:lnTo>
                  <a:close/>
                </a:path>
              </a:pathLst>
            </a:custGeom>
            <a:blipFill>
              <a:blip r:embed="rId4"/>
              <a:stretch>
                <a:fillRect/>
              </a:stretch>
            </a:blipFill>
          </p:spPr>
        </p:sp>
        <p:sp>
          <p:nvSpPr>
            <p:cNvPr id="14" name="Freeform 14"/>
            <p:cNvSpPr/>
            <p:nvPr/>
          </p:nvSpPr>
          <p:spPr>
            <a:xfrm>
              <a:off x="1942787" y="114158"/>
              <a:ext cx="2435810" cy="1370143"/>
            </a:xfrm>
            <a:custGeom>
              <a:avLst/>
              <a:gdLst/>
              <a:ahLst/>
              <a:cxnLst/>
              <a:rect l="l" t="t" r="r" b="b"/>
              <a:pathLst>
                <a:path w="2435810" h="1370143">
                  <a:moveTo>
                    <a:pt x="0" y="0"/>
                  </a:moveTo>
                  <a:lnTo>
                    <a:pt x="2435811" y="0"/>
                  </a:lnTo>
                  <a:lnTo>
                    <a:pt x="2435811" y="1370143"/>
                  </a:lnTo>
                  <a:lnTo>
                    <a:pt x="0" y="1370143"/>
                  </a:lnTo>
                  <a:lnTo>
                    <a:pt x="0" y="0"/>
                  </a:lnTo>
                  <a:close/>
                </a:path>
              </a:pathLst>
            </a:custGeom>
            <a:blipFill>
              <a:blip r:embed="rId5"/>
              <a:stretch>
                <a:fillRect/>
              </a:stretch>
            </a:blipFill>
          </p:spPr>
        </p:sp>
      </p:grpSp>
      <p:sp>
        <p:nvSpPr>
          <p:cNvPr id="15" name="TextBox 15"/>
          <p:cNvSpPr txBox="1"/>
          <p:nvPr/>
        </p:nvSpPr>
        <p:spPr>
          <a:xfrm>
            <a:off x="1028700" y="1889761"/>
            <a:ext cx="16230600" cy="1409700"/>
          </a:xfrm>
          <a:prstGeom prst="rect">
            <a:avLst/>
          </a:prstGeom>
        </p:spPr>
        <p:txBody>
          <a:bodyPr lIns="0" tIns="0" rIns="0" bIns="0" rtlCol="0" anchor="t">
            <a:spAutoFit/>
          </a:bodyPr>
          <a:lstStyle/>
          <a:p>
            <a:pPr algn="l">
              <a:lnSpc>
                <a:spcPts val="3750"/>
              </a:lnSpc>
            </a:pPr>
            <a:r>
              <a:rPr lang="en-US" sz="2500" b="1">
                <a:solidFill>
                  <a:srgbClr val="171A18"/>
                </a:solidFill>
                <a:latin typeface="Canva Sans Bold"/>
                <a:ea typeface="Canva Sans Bold"/>
                <a:cs typeface="Canva Sans Bold"/>
                <a:sym typeface="Canva Sans Bold"/>
              </a:rPr>
              <a:t>Research papers on crop disease detection using CNN:</a:t>
            </a:r>
            <a:r>
              <a:rPr lang="en-US" sz="2500" b="1" u="sng">
                <a:solidFill>
                  <a:srgbClr val="171A18"/>
                </a:solidFill>
                <a:latin typeface="Canva Sans Bold"/>
                <a:ea typeface="Canva Sans Bold"/>
                <a:cs typeface="Canva Sans Bold"/>
                <a:sym typeface="Canva Sans Bold"/>
              </a:rPr>
              <a:t> https://ieeexplore.ieee.org/document/8579082</a:t>
            </a:r>
          </a:p>
          <a:p>
            <a:pPr algn="l">
              <a:lnSpc>
                <a:spcPts val="3750"/>
              </a:lnSpc>
            </a:pPr>
            <a:r>
              <a:rPr lang="en-US" sz="2500" b="1">
                <a:solidFill>
                  <a:srgbClr val="171A18"/>
                </a:solidFill>
                <a:latin typeface="Canva Sans Bold"/>
                <a:ea typeface="Canva Sans Bold"/>
                <a:cs typeface="Canva Sans Bold"/>
                <a:sym typeface="Canva Sans Bold"/>
              </a:rPr>
              <a:t>Agricultural datasets from Kaggle: </a:t>
            </a:r>
            <a:r>
              <a:rPr lang="en-US" sz="2500" b="1" u="sng">
                <a:solidFill>
                  <a:srgbClr val="171A18"/>
                </a:solidFill>
                <a:latin typeface="Canva Sans Bold"/>
                <a:ea typeface="Canva Sans Bold"/>
                <a:cs typeface="Canva Sans Bold"/>
                <a:sym typeface="Canva Sans Bold"/>
              </a:rPr>
              <a:t>https://www.kaggle.com/datasets/emmarex/plantdisease</a:t>
            </a:r>
          </a:p>
          <a:p>
            <a:pPr algn="l">
              <a:lnSpc>
                <a:spcPts val="3750"/>
              </a:lnSpc>
            </a:pPr>
            <a:endParaRPr lang="en-US" sz="2500" b="1" u="sng">
              <a:solidFill>
                <a:srgbClr val="171A18"/>
              </a:solidFill>
              <a:latin typeface="Canva Sans Bold"/>
              <a:ea typeface="Canva Sans Bold"/>
              <a:cs typeface="Canva Sans Bold"/>
              <a:sym typeface="Canva Sans Bold"/>
            </a:endParaRPr>
          </a:p>
        </p:txBody>
      </p:sp>
      <p:sp>
        <p:nvSpPr>
          <p:cNvPr id="16" name="TextBox 16"/>
          <p:cNvSpPr txBox="1"/>
          <p:nvPr/>
        </p:nvSpPr>
        <p:spPr>
          <a:xfrm>
            <a:off x="1028700" y="3223261"/>
            <a:ext cx="5757588" cy="457200"/>
          </a:xfrm>
          <a:prstGeom prst="rect">
            <a:avLst/>
          </a:prstGeom>
        </p:spPr>
        <p:txBody>
          <a:bodyPr lIns="0" tIns="0" rIns="0" bIns="0" rtlCol="0" anchor="t">
            <a:spAutoFit/>
          </a:bodyPr>
          <a:lstStyle/>
          <a:p>
            <a:pPr algn="l">
              <a:lnSpc>
                <a:spcPts val="3750"/>
              </a:lnSpc>
            </a:pPr>
            <a:r>
              <a:rPr lang="en-US" sz="2500" b="1">
                <a:solidFill>
                  <a:srgbClr val="377328"/>
                </a:solidFill>
                <a:latin typeface="Canva Sans Bold"/>
                <a:ea typeface="Canva Sans Bold"/>
                <a:cs typeface="Canva Sans Bold"/>
                <a:sym typeface="Canva Sans Bold"/>
              </a:rPr>
              <a:t>Software A</a:t>
            </a:r>
            <a:r>
              <a:rPr lang="en-US" sz="2500" b="1" u="none">
                <a:solidFill>
                  <a:srgbClr val="377328"/>
                </a:solidFill>
                <a:latin typeface="Canva Sans Bold"/>
                <a:ea typeface="Canva Sans Bold"/>
                <a:cs typeface="Canva Sans Bold"/>
                <a:sym typeface="Canva Sans Bold"/>
              </a:rPr>
              <a:t>pplic</a:t>
            </a:r>
            <a:r>
              <a:rPr lang="en-US" sz="2500" b="1">
                <a:solidFill>
                  <a:srgbClr val="377328"/>
                </a:solidFill>
                <a:latin typeface="Canva Sans Bold"/>
                <a:ea typeface="Canva Sans Bold"/>
                <a:cs typeface="Canva Sans Bold"/>
                <a:sym typeface="Canva Sans Bold"/>
              </a:rPr>
              <a:t>ation </a:t>
            </a:r>
            <a:r>
              <a:rPr lang="en-US" sz="2500" b="1" u="none">
                <a:solidFill>
                  <a:srgbClr val="377328"/>
                </a:solidFill>
                <a:latin typeface="Canva Sans Bold"/>
                <a:ea typeface="Canva Sans Bold"/>
                <a:cs typeface="Canva Sans Bold"/>
                <a:sym typeface="Canva Sans Bold"/>
              </a:rPr>
              <a:t>/</a:t>
            </a:r>
            <a:r>
              <a:rPr lang="en-US" sz="2500" b="1">
                <a:solidFill>
                  <a:srgbClr val="377328"/>
                </a:solidFill>
                <a:latin typeface="Canva Sans Bold"/>
                <a:ea typeface="Canva Sans Bold"/>
                <a:cs typeface="Canva Sans Bold"/>
                <a:sym typeface="Canva Sans Bold"/>
              </a:rPr>
              <a:t> W</a:t>
            </a:r>
            <a:r>
              <a:rPr lang="en-US" sz="2500" b="1" u="none">
                <a:solidFill>
                  <a:srgbClr val="377328"/>
                </a:solidFill>
                <a:latin typeface="Canva Sans Bold"/>
                <a:ea typeface="Canva Sans Bold"/>
                <a:cs typeface="Canva Sans Bold"/>
                <a:sym typeface="Canva Sans Bold"/>
              </a:rPr>
              <a:t>e</a:t>
            </a:r>
            <a:r>
              <a:rPr lang="en-US" sz="2500" b="1">
                <a:solidFill>
                  <a:srgbClr val="377328"/>
                </a:solidFill>
                <a:latin typeface="Canva Sans Bold"/>
                <a:ea typeface="Canva Sans Bold"/>
                <a:cs typeface="Canva Sans Bold"/>
                <a:sym typeface="Canva Sans Bold"/>
              </a:rPr>
              <a:t>b</a:t>
            </a:r>
            <a:r>
              <a:rPr lang="en-US" sz="2500" b="1" u="none">
                <a:solidFill>
                  <a:srgbClr val="377328"/>
                </a:solidFill>
                <a:latin typeface="Canva Sans Bold"/>
                <a:ea typeface="Canva Sans Bold"/>
                <a:cs typeface="Canva Sans Bold"/>
                <a:sym typeface="Canva Sans Bold"/>
              </a:rPr>
              <a:t>s</a:t>
            </a:r>
            <a:r>
              <a:rPr lang="en-US" sz="2500" b="1">
                <a:solidFill>
                  <a:srgbClr val="377328"/>
                </a:solidFill>
                <a:latin typeface="Canva Sans Bold"/>
                <a:ea typeface="Canva Sans Bold"/>
                <a:cs typeface="Canva Sans Bold"/>
                <a:sym typeface="Canva Sans Bold"/>
              </a:rPr>
              <a:t>i</a:t>
            </a:r>
            <a:r>
              <a:rPr lang="en-US" sz="2500" b="1" u="none">
                <a:solidFill>
                  <a:srgbClr val="377328"/>
                </a:solidFill>
                <a:latin typeface="Canva Sans Bold"/>
                <a:ea typeface="Canva Sans Bold"/>
                <a:cs typeface="Canva Sans Bold"/>
                <a:sym typeface="Canva Sans Bold"/>
              </a:rPr>
              <a:t>te</a:t>
            </a:r>
            <a:r>
              <a:rPr lang="en-US" sz="2500" b="1">
                <a:solidFill>
                  <a:srgbClr val="377328"/>
                </a:solidFill>
                <a:latin typeface="Canva Sans Bold"/>
                <a:ea typeface="Canva Sans Bold"/>
                <a:cs typeface="Canva Sans Bold"/>
                <a:sym typeface="Canva Sans Bold"/>
              </a:rPr>
              <a:t> URL:</a:t>
            </a:r>
          </a:p>
        </p:txBody>
      </p:sp>
      <p:sp>
        <p:nvSpPr>
          <p:cNvPr id="17" name="TextBox 17"/>
          <p:cNvSpPr txBox="1"/>
          <p:nvPr/>
        </p:nvSpPr>
        <p:spPr>
          <a:xfrm>
            <a:off x="1028700" y="7149791"/>
            <a:ext cx="12173965" cy="3314700"/>
          </a:xfrm>
          <a:prstGeom prst="rect">
            <a:avLst/>
          </a:prstGeom>
        </p:spPr>
        <p:txBody>
          <a:bodyPr lIns="0" tIns="0" rIns="0" bIns="0" rtlCol="0" anchor="t">
            <a:spAutoFit/>
          </a:bodyPr>
          <a:lstStyle/>
          <a:p>
            <a:pPr algn="l">
              <a:lnSpc>
                <a:spcPts val="3750"/>
              </a:lnSpc>
            </a:pPr>
            <a:r>
              <a:rPr lang="en-US" sz="2500" b="1">
                <a:solidFill>
                  <a:srgbClr val="377328"/>
                </a:solidFill>
                <a:latin typeface="Canva Sans Bold"/>
                <a:ea typeface="Canva Sans Bold"/>
                <a:cs typeface="Canva Sans Bold"/>
                <a:sym typeface="Canva Sans Bold"/>
              </a:rPr>
              <a:t>AI Tools Used</a:t>
            </a:r>
          </a:p>
          <a:p>
            <a:pPr marL="539753" lvl="1" indent="-269876" algn="l">
              <a:lnSpc>
                <a:spcPts val="3750"/>
              </a:lnSpc>
              <a:buFont typeface="Arial"/>
              <a:buChar char="•"/>
            </a:pPr>
            <a:r>
              <a:rPr lang="en-US" sz="2500" b="1">
                <a:solidFill>
                  <a:srgbClr val="171A18"/>
                </a:solidFill>
                <a:latin typeface="Canva Sans Bold"/>
                <a:ea typeface="Canva Sans Bold"/>
                <a:cs typeface="Canva Sans Bold"/>
                <a:sym typeface="Canva Sans Bold"/>
              </a:rPr>
              <a:t>ChatGPT (for code generation, debugging, and guidance)</a:t>
            </a:r>
          </a:p>
          <a:p>
            <a:pPr marL="539753" lvl="1" indent="-269876" algn="l">
              <a:lnSpc>
                <a:spcPts val="3750"/>
              </a:lnSpc>
              <a:buFont typeface="Arial"/>
              <a:buChar char="•"/>
            </a:pPr>
            <a:r>
              <a:rPr lang="en-US" sz="2500" b="1">
                <a:solidFill>
                  <a:srgbClr val="171A18"/>
                </a:solidFill>
                <a:latin typeface="Canva Sans Bold"/>
                <a:ea typeface="Canva Sans Bold"/>
                <a:cs typeface="Canva Sans Bold"/>
                <a:sym typeface="Canva Sans Bold"/>
              </a:rPr>
              <a:t>GitHub Co</a:t>
            </a:r>
            <a:r>
              <a:rPr lang="en-US" sz="2500" b="1" u="none">
                <a:solidFill>
                  <a:srgbClr val="171A18"/>
                </a:solidFill>
                <a:latin typeface="Canva Sans Bold"/>
                <a:ea typeface="Canva Sans Bold"/>
                <a:cs typeface="Canva Sans Bold"/>
                <a:sym typeface="Canva Sans Bold"/>
              </a:rPr>
              <a:t>pilot (for code sugges</a:t>
            </a:r>
            <a:r>
              <a:rPr lang="en-US" sz="2500" b="1">
                <a:solidFill>
                  <a:srgbClr val="171A18"/>
                </a:solidFill>
                <a:latin typeface="Canva Sans Bold"/>
                <a:ea typeface="Canva Sans Bold"/>
                <a:cs typeface="Canva Sans Bold"/>
                <a:sym typeface="Canva Sans Bold"/>
              </a:rPr>
              <a:t>tions)</a:t>
            </a:r>
          </a:p>
          <a:p>
            <a:pPr marL="539753" lvl="1" indent="-269876" algn="l">
              <a:lnSpc>
                <a:spcPts val="3750"/>
              </a:lnSpc>
              <a:buFont typeface="Arial"/>
              <a:buChar char="•"/>
            </a:pPr>
            <a:r>
              <a:rPr lang="en-US" sz="2500" b="1">
                <a:solidFill>
                  <a:srgbClr val="171A18"/>
                </a:solidFill>
                <a:latin typeface="Canva Sans Bold"/>
                <a:ea typeface="Canva Sans Bold"/>
                <a:cs typeface="Canva Sans Bold"/>
                <a:sym typeface="Canva Sans Bold"/>
              </a:rPr>
              <a:t>Google Colab (for mod</a:t>
            </a:r>
            <a:r>
              <a:rPr lang="en-US" sz="2500" b="1" u="none">
                <a:solidFill>
                  <a:srgbClr val="171A18"/>
                </a:solidFill>
                <a:latin typeface="Canva Sans Bold"/>
                <a:ea typeface="Canva Sans Bold"/>
                <a:cs typeface="Canva Sans Bold"/>
                <a:sym typeface="Canva Sans Bold"/>
              </a:rPr>
              <a:t>el training and experimentation)</a:t>
            </a:r>
          </a:p>
          <a:p>
            <a:pPr marL="539753" lvl="1" indent="-269876" algn="l">
              <a:lnSpc>
                <a:spcPts val="3750"/>
              </a:lnSpc>
              <a:buFont typeface="Arial"/>
              <a:buChar char="•"/>
            </a:pPr>
            <a:r>
              <a:rPr lang="en-US" sz="2500" b="1" u="none">
                <a:solidFill>
                  <a:srgbClr val="171A18"/>
                </a:solidFill>
                <a:latin typeface="Canva Sans Bold"/>
                <a:ea typeface="Canva Sans Bold"/>
                <a:cs typeface="Canva Sans Bold"/>
                <a:sym typeface="Canva Sans Bold"/>
              </a:rPr>
              <a:t>TensorFlow/Keras (for </a:t>
            </a:r>
            <a:r>
              <a:rPr lang="en-US" sz="2500" b="1">
                <a:solidFill>
                  <a:srgbClr val="171A18"/>
                </a:solidFill>
                <a:latin typeface="Canva Sans Bold"/>
                <a:ea typeface="Canva Sans Bold"/>
                <a:cs typeface="Canva Sans Bold"/>
                <a:sym typeface="Canva Sans Bold"/>
              </a:rPr>
              <a:t>building AI model</a:t>
            </a:r>
            <a:r>
              <a:rPr lang="en-US" sz="2500" b="1" u="none">
                <a:solidFill>
                  <a:srgbClr val="171A18"/>
                </a:solidFill>
                <a:latin typeface="Canva Sans Bold"/>
                <a:ea typeface="Canva Sans Bold"/>
                <a:cs typeface="Canva Sans Bold"/>
                <a:sym typeface="Canva Sans Bold"/>
              </a:rPr>
              <a:t>s)</a:t>
            </a:r>
          </a:p>
          <a:p>
            <a:pPr marL="539753" lvl="1" indent="-269876" algn="l">
              <a:lnSpc>
                <a:spcPts val="3750"/>
              </a:lnSpc>
              <a:buFont typeface="Arial"/>
              <a:buChar char="•"/>
            </a:pPr>
            <a:r>
              <a:rPr lang="en-US" sz="2500" b="1" u="none">
                <a:solidFill>
                  <a:srgbClr val="171A18"/>
                </a:solidFill>
                <a:latin typeface="Canva Sans Bold"/>
                <a:ea typeface="Canva Sans Bold"/>
                <a:cs typeface="Canva Sans Bold"/>
                <a:sym typeface="Canva Sans Bold"/>
              </a:rPr>
              <a:t>Scik</a:t>
            </a:r>
            <a:r>
              <a:rPr lang="en-US" sz="2500" b="1">
                <a:solidFill>
                  <a:srgbClr val="171A18"/>
                </a:solidFill>
                <a:latin typeface="Canva Sans Bold"/>
                <a:ea typeface="Canva Sans Bold"/>
                <a:cs typeface="Canva Sans Bold"/>
                <a:sym typeface="Canva Sans Bold"/>
              </a:rPr>
              <a:t>i</a:t>
            </a:r>
            <a:r>
              <a:rPr lang="en-US" sz="2500" b="1" u="none">
                <a:solidFill>
                  <a:srgbClr val="171A18"/>
                </a:solidFill>
                <a:latin typeface="Canva Sans Bold"/>
                <a:ea typeface="Canva Sans Bold"/>
                <a:cs typeface="Canva Sans Bold"/>
                <a:sym typeface="Canva Sans Bold"/>
              </a:rPr>
              <a:t>t-learn</a:t>
            </a:r>
            <a:r>
              <a:rPr lang="en-US" sz="2500" b="1">
                <a:solidFill>
                  <a:srgbClr val="171A18"/>
                </a:solidFill>
                <a:latin typeface="Canva Sans Bold"/>
                <a:ea typeface="Canva Sans Bold"/>
                <a:cs typeface="Canva Sans Bold"/>
                <a:sym typeface="Canva Sans Bold"/>
              </a:rPr>
              <a:t> (for data analysis and prediction)</a:t>
            </a:r>
          </a:p>
          <a:p>
            <a:pPr algn="l">
              <a:lnSpc>
                <a:spcPts val="3750"/>
              </a:lnSpc>
            </a:pPr>
            <a:endParaRPr lang="en-US" sz="2500" b="1">
              <a:solidFill>
                <a:srgbClr val="171A18"/>
              </a:solidFill>
              <a:latin typeface="Canva Sans Bold"/>
              <a:ea typeface="Canva Sans Bold"/>
              <a:cs typeface="Canva Sans Bold"/>
              <a:sym typeface="Canva Sans Bold"/>
            </a:endParaRPr>
          </a:p>
        </p:txBody>
      </p:sp>
      <p:sp>
        <p:nvSpPr>
          <p:cNvPr id="18" name="TextBox 18"/>
          <p:cNvSpPr txBox="1"/>
          <p:nvPr/>
        </p:nvSpPr>
        <p:spPr>
          <a:xfrm>
            <a:off x="1028700" y="3967711"/>
            <a:ext cx="15776104" cy="3314700"/>
          </a:xfrm>
          <a:prstGeom prst="rect">
            <a:avLst/>
          </a:prstGeom>
        </p:spPr>
        <p:txBody>
          <a:bodyPr lIns="0" tIns="0" rIns="0" bIns="0" rtlCol="0" anchor="t">
            <a:spAutoFit/>
          </a:bodyPr>
          <a:lstStyle/>
          <a:p>
            <a:pPr algn="l">
              <a:lnSpc>
                <a:spcPts val="3750"/>
              </a:lnSpc>
            </a:pPr>
            <a:r>
              <a:rPr lang="en-US" sz="2500" b="1">
                <a:solidFill>
                  <a:srgbClr val="377328"/>
                </a:solidFill>
                <a:latin typeface="Canva Sans Bold"/>
                <a:ea typeface="Canva Sans Bold"/>
                <a:cs typeface="Canva Sans Bold"/>
                <a:sym typeface="Canva Sans Bold"/>
              </a:rPr>
              <a:t> Codes</a:t>
            </a:r>
          </a:p>
          <a:p>
            <a:pPr marL="539753" lvl="1" indent="-269876" algn="l">
              <a:lnSpc>
                <a:spcPts val="3750"/>
              </a:lnSpc>
              <a:buFont typeface="Arial"/>
              <a:buChar char="•"/>
            </a:pPr>
            <a:r>
              <a:rPr lang="en-US" sz="2500" b="1">
                <a:solidFill>
                  <a:srgbClr val="171A18"/>
                </a:solidFill>
                <a:latin typeface="Canva Sans Bold"/>
                <a:ea typeface="Canva Sans Bold"/>
                <a:cs typeface="Canva Sans Bold"/>
                <a:sym typeface="Canva Sans Bold"/>
              </a:rPr>
              <a:t>Machine Learning Model Code</a:t>
            </a:r>
            <a:r>
              <a:rPr lang="en-US" sz="2500" b="1" u="none">
                <a:solidFill>
                  <a:srgbClr val="171A18"/>
                </a:solidFill>
                <a:latin typeface="Canva Sans Bold"/>
                <a:ea typeface="Canva Sans Bold"/>
                <a:cs typeface="Canva Sans Bold"/>
                <a:sym typeface="Canva Sans Bold"/>
              </a:rPr>
              <a:t> (Python – Tens</a:t>
            </a:r>
            <a:r>
              <a:rPr lang="en-US" sz="2500" b="1">
                <a:solidFill>
                  <a:srgbClr val="171A18"/>
                </a:solidFill>
                <a:latin typeface="Canva Sans Bold"/>
                <a:ea typeface="Canva Sans Bold"/>
                <a:cs typeface="Canva Sans Bold"/>
                <a:sym typeface="Canva Sans Bold"/>
              </a:rPr>
              <a:t>orFlow/Keras)</a:t>
            </a:r>
          </a:p>
          <a:p>
            <a:pPr marL="539753" lvl="1" indent="-269876" algn="l">
              <a:lnSpc>
                <a:spcPts val="3750"/>
              </a:lnSpc>
              <a:buFont typeface="Arial"/>
              <a:buChar char="•"/>
            </a:pPr>
            <a:r>
              <a:rPr lang="en-US" sz="2500" b="1">
                <a:solidFill>
                  <a:srgbClr val="171A18"/>
                </a:solidFill>
                <a:latin typeface="Canva Sans Bold"/>
                <a:ea typeface="Canva Sans Bold"/>
                <a:cs typeface="Canva Sans Bold"/>
                <a:sym typeface="Canva Sans Bold"/>
              </a:rPr>
              <a:t>Backend API Code (Flask – Python)</a:t>
            </a:r>
          </a:p>
          <a:p>
            <a:pPr marL="539753" lvl="1" indent="-269876" algn="l">
              <a:lnSpc>
                <a:spcPts val="3750"/>
              </a:lnSpc>
              <a:buFont typeface="Arial"/>
              <a:buChar char="•"/>
            </a:pPr>
            <a:r>
              <a:rPr lang="en-US" sz="2500" b="1">
                <a:solidFill>
                  <a:srgbClr val="171A18"/>
                </a:solidFill>
                <a:latin typeface="Canva Sans Bold"/>
                <a:ea typeface="Canva Sans Bold"/>
                <a:cs typeface="Canva Sans Bold"/>
                <a:sym typeface="Canva Sans Bold"/>
              </a:rPr>
              <a:t>Frontend Cod</a:t>
            </a:r>
            <a:r>
              <a:rPr lang="en-US" sz="2500" b="1" u="none">
                <a:solidFill>
                  <a:srgbClr val="171A18"/>
                </a:solidFill>
                <a:latin typeface="Canva Sans Bold"/>
                <a:ea typeface="Canva Sans Bold"/>
                <a:cs typeface="Canva Sans Bold"/>
                <a:sym typeface="Canva Sans Bold"/>
              </a:rPr>
              <a:t>e (React.js – JavaScript)</a:t>
            </a:r>
          </a:p>
          <a:p>
            <a:pPr marL="539753" lvl="1" indent="-269876" algn="l">
              <a:lnSpc>
                <a:spcPts val="3750"/>
              </a:lnSpc>
              <a:buFont typeface="Arial"/>
              <a:buChar char="•"/>
            </a:pPr>
            <a:r>
              <a:rPr lang="en-US" sz="2500" b="1" u="none">
                <a:solidFill>
                  <a:srgbClr val="171A18"/>
                </a:solidFill>
                <a:latin typeface="Canva Sans Bold"/>
                <a:ea typeface="Canva Sans Bold"/>
                <a:cs typeface="Canva Sans Bold"/>
                <a:sym typeface="Canva Sans Bold"/>
              </a:rPr>
              <a:t>Database Integration Code (MongoDB/Firebase)</a:t>
            </a:r>
          </a:p>
          <a:p>
            <a:pPr algn="l">
              <a:lnSpc>
                <a:spcPts val="3750"/>
              </a:lnSpc>
            </a:pPr>
            <a:r>
              <a:rPr lang="en-US" sz="2500" b="1" u="none">
                <a:solidFill>
                  <a:srgbClr val="171A18"/>
                </a:solidFill>
                <a:latin typeface="Canva Sans Bold"/>
                <a:ea typeface="Canva Sans Bold"/>
                <a:cs typeface="Canva Sans Bold"/>
                <a:sym typeface="Canva Sans Bold"/>
              </a:rPr>
              <a:t>(All source code </a:t>
            </a:r>
            <a:r>
              <a:rPr lang="en-US" sz="2500" b="1">
                <a:solidFill>
                  <a:srgbClr val="171A18"/>
                </a:solidFill>
                <a:latin typeface="Canva Sans Bold"/>
                <a:ea typeface="Canva Sans Bold"/>
                <a:cs typeface="Canva Sans Bold"/>
                <a:sym typeface="Canva Sans Bold"/>
              </a:rPr>
              <a:t>is maintained in the GitHub repo</a:t>
            </a:r>
            <a:r>
              <a:rPr lang="en-US" sz="2500" b="1" u="none">
                <a:solidFill>
                  <a:srgbClr val="171A18"/>
                </a:solidFill>
                <a:latin typeface="Canva Sans Bold"/>
                <a:ea typeface="Canva Sans Bold"/>
                <a:cs typeface="Canva Sans Bold"/>
                <a:sym typeface="Canva Sans Bold"/>
              </a:rPr>
              <a:t>s</a:t>
            </a:r>
            <a:r>
              <a:rPr lang="en-US" sz="2500" b="1">
                <a:solidFill>
                  <a:srgbClr val="171A18"/>
                </a:solidFill>
                <a:latin typeface="Canva Sans Bold"/>
                <a:ea typeface="Canva Sans Bold"/>
                <a:cs typeface="Canva Sans Bold"/>
                <a:sym typeface="Canva Sans Bold"/>
              </a:rPr>
              <a:t>i</a:t>
            </a:r>
            <a:r>
              <a:rPr lang="en-US" sz="2500" b="1" u="none">
                <a:solidFill>
                  <a:srgbClr val="171A18"/>
                </a:solidFill>
                <a:latin typeface="Canva Sans Bold"/>
                <a:ea typeface="Canva Sans Bold"/>
                <a:cs typeface="Canva Sans Bold"/>
                <a:sym typeface="Canva Sans Bold"/>
              </a:rPr>
              <a:t>tory</a:t>
            </a:r>
            <a:r>
              <a:rPr lang="en-US" sz="2500" b="1">
                <a:solidFill>
                  <a:srgbClr val="171A18"/>
                </a:solidFill>
                <a:latin typeface="Canva Sans Bold"/>
                <a:ea typeface="Canva Sans Bold"/>
                <a:cs typeface="Canva Sans Bold"/>
                <a:sym typeface="Canva Sans Bold"/>
              </a:rPr>
              <a:t> for easy access and version control</a:t>
            </a:r>
            <a:r>
              <a:rPr lang="en-US" sz="2500" b="1">
                <a:solidFill>
                  <a:srgbClr val="377328"/>
                </a:solidFill>
                <a:latin typeface="Canva Sans Bold"/>
                <a:ea typeface="Canva Sans Bold"/>
                <a:cs typeface="Canva Sans Bold"/>
                <a:sym typeface="Canva Sans Bold"/>
              </a:rPr>
              <a:t>)</a:t>
            </a:r>
          </a:p>
          <a:p>
            <a:pPr algn="l">
              <a:lnSpc>
                <a:spcPts val="3750"/>
              </a:lnSpc>
            </a:pPr>
            <a:endParaRPr lang="en-US" sz="2500" b="1">
              <a:solidFill>
                <a:srgbClr val="377328"/>
              </a:solidFill>
              <a:latin typeface="Canva Sans Bold"/>
              <a:ea typeface="Canva Sans Bold"/>
              <a:cs typeface="Canva Sans Bold"/>
              <a:sym typeface="Canva Sans 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377328">
                <a:alpha val="86667"/>
              </a:srgbClr>
            </a:soli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8519738"/>
            <a:ext cx="18288000" cy="2076703"/>
            <a:chOff x="0" y="0"/>
            <a:chExt cx="4816593" cy="546951"/>
          </a:xfrm>
        </p:grpSpPr>
        <p:sp>
          <p:nvSpPr>
            <p:cNvPr id="7" name="Freeform 7"/>
            <p:cNvSpPr/>
            <p:nvPr/>
          </p:nvSpPr>
          <p:spPr>
            <a:xfrm>
              <a:off x="0" y="0"/>
              <a:ext cx="4816592" cy="546951"/>
            </a:xfrm>
            <a:custGeom>
              <a:avLst/>
              <a:gdLst/>
              <a:ahLst/>
              <a:cxnLst/>
              <a:rect l="l" t="t" r="r" b="b"/>
              <a:pathLst>
                <a:path w="4816592" h="546951">
                  <a:moveTo>
                    <a:pt x="0" y="0"/>
                  </a:moveTo>
                  <a:lnTo>
                    <a:pt x="4816592" y="0"/>
                  </a:lnTo>
                  <a:lnTo>
                    <a:pt x="4816592" y="546951"/>
                  </a:lnTo>
                  <a:lnTo>
                    <a:pt x="0" y="546951"/>
                  </a:lnTo>
                  <a:close/>
                </a:path>
              </a:pathLst>
            </a:custGeom>
            <a:solidFill>
              <a:srgbClr val="C5E7B0"/>
            </a:solidFill>
          </p:spPr>
        </p:sp>
        <p:sp>
          <p:nvSpPr>
            <p:cNvPr id="8" name="TextBox 8"/>
            <p:cNvSpPr txBox="1"/>
            <p:nvPr/>
          </p:nvSpPr>
          <p:spPr>
            <a:xfrm>
              <a:off x="0" y="-38100"/>
              <a:ext cx="4816593" cy="585051"/>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7074399" y="1932181"/>
            <a:ext cx="4139202" cy="2867338"/>
          </a:xfrm>
          <a:custGeom>
            <a:avLst/>
            <a:gdLst/>
            <a:ahLst/>
            <a:cxnLst/>
            <a:rect l="l" t="t" r="r" b="b"/>
            <a:pathLst>
              <a:path w="4139202" h="2867338">
                <a:moveTo>
                  <a:pt x="0" y="0"/>
                </a:moveTo>
                <a:lnTo>
                  <a:pt x="4139202" y="0"/>
                </a:lnTo>
                <a:lnTo>
                  <a:pt x="4139202" y="2867338"/>
                </a:lnTo>
                <a:lnTo>
                  <a:pt x="0" y="2867338"/>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0" y="8181848"/>
            <a:ext cx="18288000" cy="599653"/>
            <a:chOff x="0" y="0"/>
            <a:chExt cx="4816593" cy="157933"/>
          </a:xfrm>
        </p:grpSpPr>
        <p:sp>
          <p:nvSpPr>
            <p:cNvPr id="11" name="Freeform 11"/>
            <p:cNvSpPr/>
            <p:nvPr/>
          </p:nvSpPr>
          <p:spPr>
            <a:xfrm>
              <a:off x="0" y="0"/>
              <a:ext cx="4816592" cy="157933"/>
            </a:xfrm>
            <a:custGeom>
              <a:avLst/>
              <a:gdLst/>
              <a:ahLst/>
              <a:cxnLst/>
              <a:rect l="l" t="t" r="r" b="b"/>
              <a:pathLst>
                <a:path w="4816592" h="157933">
                  <a:moveTo>
                    <a:pt x="0" y="0"/>
                  </a:moveTo>
                  <a:lnTo>
                    <a:pt x="4816592" y="0"/>
                  </a:lnTo>
                  <a:lnTo>
                    <a:pt x="4816592" y="157933"/>
                  </a:lnTo>
                  <a:lnTo>
                    <a:pt x="0" y="157933"/>
                  </a:lnTo>
                  <a:close/>
                </a:path>
              </a:pathLst>
            </a:custGeom>
            <a:solidFill>
              <a:srgbClr val="E2FF80"/>
            </a:solidFill>
          </p:spPr>
        </p:sp>
        <p:sp>
          <p:nvSpPr>
            <p:cNvPr id="12" name="TextBox 12"/>
            <p:cNvSpPr txBox="1"/>
            <p:nvPr/>
          </p:nvSpPr>
          <p:spPr>
            <a:xfrm>
              <a:off x="0" y="-38100"/>
              <a:ext cx="4816593" cy="196033"/>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1939652" y="4292450"/>
            <a:ext cx="14408696" cy="2764434"/>
          </a:xfrm>
          <a:prstGeom prst="rect">
            <a:avLst/>
          </a:prstGeom>
        </p:spPr>
        <p:txBody>
          <a:bodyPr lIns="0" tIns="0" rIns="0" bIns="0" rtlCol="0" anchor="t">
            <a:spAutoFit/>
          </a:bodyPr>
          <a:lstStyle/>
          <a:p>
            <a:pPr algn="ctr">
              <a:lnSpc>
                <a:spcPts val="21333"/>
              </a:lnSpc>
              <a:spcBef>
                <a:spcPct val="0"/>
              </a:spcBef>
            </a:pPr>
            <a:r>
              <a:rPr lang="en-US" sz="15238" b="1" spc="-670">
                <a:solidFill>
                  <a:srgbClr val="FFFFFF"/>
                </a:solidFill>
                <a:latin typeface="Telegraf Bold"/>
                <a:ea typeface="Telegraf Bold"/>
                <a:cs typeface="Telegraf Bold"/>
                <a:sym typeface="Telegraf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773</Words>
  <Application>Microsoft Office PowerPoint</Application>
  <PresentationFormat>Custom</PresentationFormat>
  <Paragraphs>84</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Canva Sans</vt:lpstr>
      <vt:lpstr>Canva Sans Bold</vt:lpstr>
      <vt:lpstr>Playfair Display Bold</vt:lpstr>
      <vt:lpstr>Calibri</vt:lpstr>
      <vt:lpstr>Palatino Bold</vt:lpstr>
      <vt:lpstr>Telegraf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ASSISTANT CODING PROJECT REVIEW</dc:title>
  <cp:lastModifiedBy>Sreevani B G</cp:lastModifiedBy>
  <cp:revision>2</cp:revision>
  <dcterms:created xsi:type="dcterms:W3CDTF">2006-08-16T00:00:00Z</dcterms:created>
  <dcterms:modified xsi:type="dcterms:W3CDTF">2026-04-04T06:59:00Z</dcterms:modified>
  <dc:identifier>DAHFoPaMB6g</dc:identifier>
</cp:coreProperties>
</file>